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cf7bb65764c76" /><Relationship Type="http://schemas.openxmlformats.org/officeDocument/2006/relationships/extended-properties" Target="/docProps/app.xml" Id="R0406c6a5ea374b4f" /><Relationship Type="http://schemas.openxmlformats.org/officeDocument/2006/relationships/officeDocument" Target="/ppt/presentation.xml" Id="R51c2710b9bf3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2f6b9f0e34798"/>
  </p:sldMasterIdLst>
  <p:notesMasterIdLst>
    <p:notesMasterId xmlns:r="http://schemas.openxmlformats.org/officeDocument/2006/relationships" r:id="Radea40c259ac4ab2"/>
  </p:notesMasterIdLst>
  <p:sldIdLst>
    <p:sldId xmlns:r="http://schemas.openxmlformats.org/officeDocument/2006/relationships" id="256" r:id="R241569f65b2943a6"/>
    <p:sldId xmlns:r="http://schemas.openxmlformats.org/officeDocument/2006/relationships" id="257" r:id="Rfe0d1a8d1fa3405f"/>
    <p:sldId xmlns:r="http://schemas.openxmlformats.org/officeDocument/2006/relationships" id="258" r:id="Radcd9dd226054128"/>
    <p:sldId xmlns:r="http://schemas.openxmlformats.org/officeDocument/2006/relationships" id="259" r:id="R208a6fd3b80248e6"/>
    <p:sldId xmlns:r="http://schemas.openxmlformats.org/officeDocument/2006/relationships" id="260" r:id="Rcb92b9534c5d402c"/>
    <p:sldId xmlns:r="http://schemas.openxmlformats.org/officeDocument/2006/relationships" id="261" r:id="Ree209598e1c647b5"/>
    <p:sldId xmlns:r="http://schemas.openxmlformats.org/officeDocument/2006/relationships" id="262" r:id="Rdb144a37d91b47ef"/>
    <p:sldId xmlns:r="http://schemas.openxmlformats.org/officeDocument/2006/relationships" id="263" r:id="R9cd73c170f76426f"/>
    <p:sldId xmlns:r="http://schemas.openxmlformats.org/officeDocument/2006/relationships" id="264" r:id="R81ddfc88a9d1463e"/>
    <p:sldId xmlns:r="http://schemas.openxmlformats.org/officeDocument/2006/relationships" id="265" r:id="Rc3110d3f57464325"/>
    <p:sldId xmlns:r="http://schemas.openxmlformats.org/officeDocument/2006/relationships" id="266" r:id="R4df1226b3e8d40f8"/>
    <p:sldId xmlns:r="http://schemas.openxmlformats.org/officeDocument/2006/relationships" id="267" r:id="Rb426ada614db420c"/>
    <p:sldId xmlns:r="http://schemas.openxmlformats.org/officeDocument/2006/relationships" id="268" r:id="Rbbb69b211c7f42e6"/>
    <p:sldId xmlns:r="http://schemas.openxmlformats.org/officeDocument/2006/relationships" id="269" r:id="R77ba8116298944a0"/>
    <p:sldId xmlns:r="http://schemas.openxmlformats.org/officeDocument/2006/relationships" id="270" r:id="R6838d1fa6dad41a5"/>
    <p:sldId xmlns:r="http://schemas.openxmlformats.org/officeDocument/2006/relationships" id="271" r:id="Rc4c257f6b2b94f0b"/>
    <p:sldId xmlns:r="http://schemas.openxmlformats.org/officeDocument/2006/relationships" id="272" r:id="R468491735c0f416e"/>
    <p:sldId xmlns:r="http://schemas.openxmlformats.org/officeDocument/2006/relationships" id="273" r:id="R4466215892a44f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e7a2587c840a5" /><Relationship Type="http://schemas.openxmlformats.org/officeDocument/2006/relationships/slideMaster" Target="/ppt/slideMasters/slideMaster1.xml" Id="R7442f6b9f0e34798" /><Relationship Type="http://schemas.openxmlformats.org/officeDocument/2006/relationships/notesMaster" Target="/ppt/notesMasters/notesMaster1.xml" Id="Radea40c259ac4ab2" /><Relationship Type="http://schemas.openxmlformats.org/officeDocument/2006/relationships/presProps" Target="/ppt/presProps.xml" Id="Ra302325941d94dd5" /><Relationship Type="http://schemas.openxmlformats.org/officeDocument/2006/relationships/tableStyles" Target="/ppt/tableStyles.xml" Id="R65bb91e8cfe54dd8" /><Relationship Type="http://schemas.openxmlformats.org/officeDocument/2006/relationships/slide" Target="/ppt/slides/slide1.xml" Id="R241569f65b2943a6" /><Relationship Type="http://schemas.openxmlformats.org/officeDocument/2006/relationships/slide" Target="/ppt/slides/slide2.xml" Id="Rfe0d1a8d1fa3405f" /><Relationship Type="http://schemas.openxmlformats.org/officeDocument/2006/relationships/slide" Target="/ppt/slides/slide3.xml" Id="Radcd9dd226054128" /><Relationship Type="http://schemas.openxmlformats.org/officeDocument/2006/relationships/slide" Target="/ppt/slides/slide4.xml" Id="R208a6fd3b80248e6" /><Relationship Type="http://schemas.openxmlformats.org/officeDocument/2006/relationships/slide" Target="/ppt/slides/slide5.xml" Id="Rcb92b9534c5d402c" /><Relationship Type="http://schemas.openxmlformats.org/officeDocument/2006/relationships/slide" Target="/ppt/slides/slide6.xml" Id="Ree209598e1c647b5" /><Relationship Type="http://schemas.openxmlformats.org/officeDocument/2006/relationships/slide" Target="/ppt/slides/slide7.xml" Id="Rdb144a37d91b47ef" /><Relationship Type="http://schemas.openxmlformats.org/officeDocument/2006/relationships/slide" Target="/ppt/slides/slide8.xml" Id="R9cd73c170f76426f" /><Relationship Type="http://schemas.openxmlformats.org/officeDocument/2006/relationships/slide" Target="/ppt/slides/slide9.xml" Id="R81ddfc88a9d1463e" /><Relationship Type="http://schemas.openxmlformats.org/officeDocument/2006/relationships/slide" Target="/ppt/slides/slide10.xml" Id="Rc3110d3f57464325" /><Relationship Type="http://schemas.openxmlformats.org/officeDocument/2006/relationships/slide" Target="/ppt/slides/slide11.xml" Id="R4df1226b3e8d40f8" /><Relationship Type="http://schemas.openxmlformats.org/officeDocument/2006/relationships/slide" Target="/ppt/slides/slide12.xml" Id="Rb426ada614db420c" /><Relationship Type="http://schemas.openxmlformats.org/officeDocument/2006/relationships/slide" Target="/ppt/slides/slide13.xml" Id="Rbbb69b211c7f42e6" /><Relationship Type="http://schemas.openxmlformats.org/officeDocument/2006/relationships/slide" Target="/ppt/slides/slide14.xml" Id="R77ba8116298944a0" /><Relationship Type="http://schemas.openxmlformats.org/officeDocument/2006/relationships/slide" Target="/ppt/slides/slide15.xml" Id="R6838d1fa6dad41a5" /><Relationship Type="http://schemas.openxmlformats.org/officeDocument/2006/relationships/slide" Target="/ppt/slides/slide16.xml" Id="Rc4c257f6b2b94f0b" /><Relationship Type="http://schemas.openxmlformats.org/officeDocument/2006/relationships/slide" Target="/ppt/slides/slide17.xml" Id="R468491735c0f416e" /><Relationship Type="http://schemas.openxmlformats.org/officeDocument/2006/relationships/slide" Target="/ppt/slides/slide18.xml" Id="R4466215892a4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3b66b1ff9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364c57b3de4446" /><Relationship Type="http://schemas.openxmlformats.org/officeDocument/2006/relationships/notesMaster" Target="/ppt/notesMasters/notesMaster1.xml" Id="R1350fcf4d97d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616c45c60422e" /><Relationship Type="http://schemas.openxmlformats.org/officeDocument/2006/relationships/notesMaster" Target="/ppt/notesMasters/notesMaster1.xml" Id="Re69393fb392a42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c2dd59b2e4686" /><Relationship Type="http://schemas.openxmlformats.org/officeDocument/2006/relationships/notesMaster" Target="/ppt/notesMasters/notesMaster1.xml" Id="R070515933be74c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be2f8c241438f" /><Relationship Type="http://schemas.openxmlformats.org/officeDocument/2006/relationships/notesMaster" Target="/ppt/notesMasters/notesMaster1.xml" Id="R8130fcec74c5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6805d6e594fd3" /><Relationship Type="http://schemas.openxmlformats.org/officeDocument/2006/relationships/notesMaster" Target="/ppt/notesMasters/notesMaster1.xml" Id="R521db32c173c4c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0a2d0a082e42b6" /><Relationship Type="http://schemas.openxmlformats.org/officeDocument/2006/relationships/notesMaster" Target="/ppt/notesMasters/notesMaster1.xml" Id="R6d12151b8f29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489896fa4048f6" /><Relationship Type="http://schemas.openxmlformats.org/officeDocument/2006/relationships/notesMaster" Target="/ppt/notesMasters/notesMaster1.xml" Id="R376cf60b4c9a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2e8cc258ae4494" /><Relationship Type="http://schemas.openxmlformats.org/officeDocument/2006/relationships/notesMaster" Target="/ppt/notesMasters/notesMaster1.xml" Id="R8c3fafadf38a4e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a6ca3e29d4664" /><Relationship Type="http://schemas.openxmlformats.org/officeDocument/2006/relationships/notesMaster" Target="/ppt/notesMasters/notesMaster1.xml" Id="R7ac535f9f53a47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1eeedbe7154dee" /><Relationship Type="http://schemas.openxmlformats.org/officeDocument/2006/relationships/notesMaster" Target="/ppt/notesMasters/notesMaster1.xml" Id="Rdbb6a5e54d1246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d7e31afbeb4515" /><Relationship Type="http://schemas.openxmlformats.org/officeDocument/2006/relationships/notesMaster" Target="/ppt/notesMasters/notesMaster1.xml" Id="R19e24c08426b45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e57063ad124c58" /><Relationship Type="http://schemas.openxmlformats.org/officeDocument/2006/relationships/notesMaster" Target="/ppt/notesMasters/notesMaster1.xml" Id="R23b2a9a9f2d945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bca365b0ee47ca" /><Relationship Type="http://schemas.openxmlformats.org/officeDocument/2006/relationships/notesMaster" Target="/ppt/notesMasters/notesMaster1.xml" Id="R78b8dc7d93bd4f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be76074eab4425" /><Relationship Type="http://schemas.openxmlformats.org/officeDocument/2006/relationships/notesMaster" Target="/ppt/notesMasters/notesMaster1.xml" Id="R866c5bc5419142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bff091c5474605" /><Relationship Type="http://schemas.openxmlformats.org/officeDocument/2006/relationships/notesMaster" Target="/ppt/notesMasters/notesMaster1.xml" Id="R07733d37c0a241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ed776c38044651" /><Relationship Type="http://schemas.openxmlformats.org/officeDocument/2006/relationships/notesMaster" Target="/ppt/notesMasters/notesMaster1.xml" Id="R890c13de85ed4d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72ab08ba2d49c2" /><Relationship Type="http://schemas.openxmlformats.org/officeDocument/2006/relationships/notesMaster" Target="/ppt/notesMasters/notesMaster1.xml" Id="R7b45f41b2bea4b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a210ea1c114839" /><Relationship Type="http://schemas.openxmlformats.org/officeDocument/2006/relationships/notesMaster" Target="/ppt/notesMasters/notesMaster1.xml" Id="Re3455a9bc624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9ef3b3e25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09719ceb5a4c7a" /><Relationship Type="http://schemas.openxmlformats.org/officeDocument/2006/relationships/slideLayout" Target="/ppt/slideLayouts/slideLayout1.xml" Id="R9a8a97c7092448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a97c7092448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5056b0abb4988" /><Relationship Type="http://schemas.openxmlformats.org/officeDocument/2006/relationships/notesSlide" Target="/ppt/notesSlides/notesSlide1.xml" Id="Re805152e4a44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8ab400fa64b6b" /><Relationship Type="http://schemas.openxmlformats.org/officeDocument/2006/relationships/notesSlide" Target="/ppt/notesSlides/notesSlide2.xml" Id="Rb60bca7a0f1941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f282f23504916" /><Relationship Type="http://schemas.openxmlformats.org/officeDocument/2006/relationships/image" Target="/ppt/media/image.png" Id="Rf5cb61b51db64322" /><Relationship Type="http://schemas.openxmlformats.org/officeDocument/2006/relationships/notesSlide" Target="/ppt/notesSlides/notesSlide3.xml" Id="R8e1538340b72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3952744e34144" /><Relationship Type="http://schemas.openxmlformats.org/officeDocument/2006/relationships/notesSlide" Target="/ppt/notesSlides/notesSlide4.xml" Id="R7225c10c494941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be4dc1884f80" /><Relationship Type="http://schemas.openxmlformats.org/officeDocument/2006/relationships/notesSlide" Target="/ppt/notesSlides/notesSlide5.xml" Id="R20b01e9a0233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22877b6f54171" /><Relationship Type="http://schemas.openxmlformats.org/officeDocument/2006/relationships/image" Target="/ppt/media/image2.png" Id="R59d56bf4ee124990" /><Relationship Type="http://schemas.openxmlformats.org/officeDocument/2006/relationships/notesSlide" Target="/ppt/notesSlides/notesSlide6.xml" Id="Rce41f415e51942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2ac7ada174a2c" /><Relationship Type="http://schemas.openxmlformats.org/officeDocument/2006/relationships/notesSlide" Target="/ppt/notesSlides/notesSlide7.xml" Id="Rcb5ee97c1d024d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e9fd11cf04b0f" /><Relationship Type="http://schemas.openxmlformats.org/officeDocument/2006/relationships/notesSlide" Target="/ppt/notesSlides/notesSlide8.xml" Id="R245681fbef544a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135a38fa34e29" /><Relationship Type="http://schemas.openxmlformats.org/officeDocument/2006/relationships/notesSlide" Target="/ppt/notesSlides/notesSlide9.xml" Id="R01716268634749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d4bd260094416" /><Relationship Type="http://schemas.openxmlformats.org/officeDocument/2006/relationships/notesSlide" Target="/ppt/notesSlides/notesSlide10.xml" Id="R654d3bcadd8b43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49a358b5143eb" /><Relationship Type="http://schemas.openxmlformats.org/officeDocument/2006/relationships/notesSlide" Target="/ppt/notesSlides/notesSlide11.xml" Id="Ra4a14f201fcc40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06cff1c624316" /><Relationship Type="http://schemas.openxmlformats.org/officeDocument/2006/relationships/notesSlide" Target="/ppt/notesSlides/notesSlide12.xml" Id="R2887d710944048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bf82bfe784987" /><Relationship Type="http://schemas.openxmlformats.org/officeDocument/2006/relationships/notesSlide" Target="/ppt/notesSlides/notesSlide13.xml" Id="R8c88b8fcbe114a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4c14216974b83" /><Relationship Type="http://schemas.openxmlformats.org/officeDocument/2006/relationships/notesSlide" Target="/ppt/notesSlides/notesSlide14.xml" Id="R1561185074364a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63b5ff5f04a55" /><Relationship Type="http://schemas.openxmlformats.org/officeDocument/2006/relationships/notesSlide" Target="/ppt/notesSlides/notesSlide15.xml" Id="R6c0792bd3b794e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3fcb6806743ef" /><Relationship Type="http://schemas.openxmlformats.org/officeDocument/2006/relationships/notesSlide" Target="/ppt/notesSlides/notesSlide16.xml" Id="R6df347733b4a4c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07dc703f4114" /><Relationship Type="http://schemas.openxmlformats.org/officeDocument/2006/relationships/notesSlide" Target="/ppt/notesSlides/notesSlide17.xml" Id="R64053fa2e5fb43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a64727445428b" /><Relationship Type="http://schemas.openxmlformats.org/officeDocument/2006/relationships/notesSlide" Target="/ppt/notesSlides/notesSlide18.xml" Id="R40472eccae20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6365D-CDC3-4E2A-84B9-A2C8FBC9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81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Probabilistische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Energiedaten-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vorhersage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C8588-BF4B-4DFD-B113-4E91598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EE6"/>
                </a:solidFill>
              </a:defRPr>
            </a:pPr>
            <a:r>
              <a:rPr sz="1800" b="0">
                <a:solidFill>
                  <a:srgbClr val="D8DEE6"/>
                </a:solidFill>
              </a:rPr>
              <a:t>Technische Projektvorstellung: Von SMARD-Daten zu Quantilprognosen mit LSTM und RNN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DC479-0A4A-4EAA-AA07-7F8D0EC1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BE"/>
                </a:solidFill>
              </a:defRPr>
            </a:pPr>
            <a:r>
              <a:rPr sz="1350" b="0">
                <a:solidFill>
                  <a:srgbClr val="AAB3BE"/>
                </a:solidFill>
              </a:rPr>
              <a:t>Fokus: Verfahren, Architektur, methodische Absicherung und kritische Einordnung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662E-AF16-4821-8FA5-A7FC2BF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62000"/>
            <a:ext cx="3714750" cy="4095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7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F1F43-4420-41D1-A6BE-EE1A4BCB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476250" cy="-9048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38968-AAE1-4128-AF6A-6F65B543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476250" cy="-4476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05D6F-641F-46AA-BEB7-EE75574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476250" cy="-1362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8E4D6-07D0-4557-BA6A-ADAB161E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523875" cy="-10953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024CD-F8A4-442B-A56F-88BEAB0B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57575"/>
            <a:ext cx="523875" cy="-638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F555F-CA4F-4D56-83EF-61BB0C4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523875" cy="-15525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C4BE-AA7D-4D2A-A6CA-C2CCBC5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523875" cy="-457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0AB2A-F085-4AA5-AD09-E3FDD7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5098C-E811-42FC-A9FC-71E15613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47800"/>
            <a:ext cx="523875" cy="-9144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D55E2-D1AA-4369-81E8-F6BA0FD3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47800"/>
            <a:ext cx="571500" cy="11049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B9A2E-5B15-4ECA-8AD3-185BFD4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571500" cy="1562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1AB22-DA84-472F-BC24-21D09303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990600"/>
            <a:ext cx="571500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FA553-7111-43C8-AAE1-B049158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571500" cy="8286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89974-B51B-4565-80D4-CBA6FB5D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9900"/>
            <a:ext cx="571500" cy="1285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E1903-53FD-4D8D-82BC-9BEF95B1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571500" cy="371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A6395-E5D2-470E-9BAA-8579E341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1620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q0.9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110D5-DDBA-4F80-9DA6-827594F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7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q0.5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58CBC-95C5-4845-9776-6EFB452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623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</a:defRPr>
            </a:pPr>
            <a:r>
              <a:rPr sz="1500" b="1">
                <a:solidFill>
                  <a:srgbClr val="1F7A4D"/>
                </a:solidFill>
              </a:rPr>
              <a:t>q0.1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FB201-32F4-458D-8D87-E473F0F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117"/>
          </a:solidFill>
          <a:ln xmlns:a="http://schemas.openxmlformats.org/drawingml/2006/main" w="0">
            <a:solidFill>
              <a:srgbClr val="0C11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BA6B6-876F-4224-976D-3DE2F9D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EE6"/>
                </a:solidFill>
              </a:defRPr>
            </a:pPr>
            <a:r>
              <a:rPr sz="1425" b="0">
                <a:solidFill>
                  <a:srgbClr val="D8DEE6"/>
                </a:solidFill>
              </a:rPr>
              <a:t>SMARD-Marktdaten · PyTorch · Quantilregression · Streamlit · Docker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ACD6D-2A24-4531-BE61-8FD5D17C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BE"/>
                </a:solidFill>
              </a:defRPr>
            </a:pPr>
            <a:r>
              <a:rPr sz="900" b="1">
                <a:solidFill>
                  <a:srgbClr val="AAB3B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8064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09AD9-88CE-4797-9112-34773FCC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ÜBERBLICK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E7CAD-988A-4A53-97C1-562B216B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Gliederung: Erst die Idee, dann die Verfahren, dann die Einordnung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9D4F5-7CA1-435E-BD40-F1296E65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90A55-4E0B-4338-851C-9BF18E3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490E2-8F02-4C17-ABBF-CADA936B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20ACF-4146-4ED1-B871-96B4188D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30DC1-1024-4728-B728-BCD513B5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Motivation und Ziel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08317-9374-4503-B08C-01DBB962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Warum probabilistische Prognosen für Photovoltaik sinnvoll sind.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0E0B0-FDF9-467F-9168-B881805C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20596-1C2F-446D-A168-020DC21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DA5EF-E0CA-40DD-A1FC-EBBA684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Gesamtpipeline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91EC8-884E-4B68-A4D6-17CB117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Wie Daten, Modelle, Metriken und Dashboard zusammenarbeiten.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FA2C-C26D-4D9A-A8CB-9530BCF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048F5-497E-46B1-AFC7-DCB1280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8FF74-740F-44CA-92C0-05806D0F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Verfahren im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923D1-D289-44A5-9304-C5C3738D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Was, Warum und Wie für Datenaufbereitung, Features, Split, Skalierung, Sequenzen, Quantile, LSTM und RNN.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5271B-8B5B-426D-9204-2CE5AEA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B28FF-14A6-4F04-B417-4672B5AE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A1B84-CBE2-4D20-B5D7-477CB5A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Bewertung und Nachweis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1EC52-45DC-44E1-9E66-21C0263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Welche Metriken genutzt werden und wie ein Ergebnisbeispiel aussieht.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1F062-1ACD-4FDE-BE76-515A6E44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7401F-D235-4121-9814-89899CD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B55DA-4BE9-4F01-AC60-A204A5A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29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Stärken, Grenzen, Ausblick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302DC-460B-4B69-9CA2-12F15C9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Was das Projekt gut kann, was kritisch bleibt und was der nächste Qualitätssprung wäre.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3068A-CE43-4914-9D0C-65D07C3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38369-A311-4E3A-BF01-E6A581AC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3595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800A3-73B7-492B-AA2F-A1ECB0D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KURZBEISPIEL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E0002-5640-4E89-A50F-23B5D6FE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Am Ende entsteht keine einzelne Zahl, sondern ein Prognoseband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43EE7-F124-4EE4-8895-AF6C2B2A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A2235-1408-406E-B8EA-E0FFF55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2611C-F40D-4D68-B466-6431A6A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7239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b61b51db64322"/>
          <a:stretch xmlns:a="http://schemas.openxmlformats.org/drawingml/2006/main"/>
        </p:blipFill>
        <p:spPr>
          <a:xfrm xmlns:a="http://schemas.openxmlformats.org/drawingml/2006/main">
            <a:off x="495300" y="2070100"/>
            <a:ext cx="7048500" cy="3289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A99A4-C8FD-428B-A57D-9D9A4D7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67EFA-5953-482F-AEBA-F73393C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Was man hier sieht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26878-8B46-4865-9EE7-8805647F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356D1-D19F-4CF0-BEA3-8786284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1462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Schwarz: echte PV-Erzeugung im Testzeitraum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41AE0-1208-420A-88EB-70C69F8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CC68F-E119-44D5-9D3E-0BFC68B6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Gestrichelt: Median-Prognose q0.5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8F2F5-26B1-4716-A783-C5B34722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EB553-FEA5-4469-A5A7-A182F26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5287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Grüne Fläche: 80%-Intervall aus q0.1 bis q0.9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0A534-B212-4E24-BAC2-71CF72D1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6070"/>
                </a:solidFill>
              </a:defRPr>
            </a:pPr>
            <a:r>
              <a:rPr sz="1275" b="1">
                <a:solidFill>
                  <a:srgbClr val="556070"/>
                </a:solidFill>
              </a:rPr>
              <a:t>Diese Folie ist nur der Funktionsnachweis. Der Schwerpunkt der Präsentation liegt danach auf der Technik dahinter.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F5522-6A59-496B-8601-BA863BB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3776-DEF8-4028-AE0C-DB5BFFD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738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97D7F-314F-450F-8EEB-C93E913E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GESAMTPIPELINE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FF156-FF53-4F17-AB61-56460B9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Die Komponenten greifen als reproduzierbare Pipeline ineinander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474A6-E395-4F7F-9DA3-53FDF3D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F3D0C-E68B-4518-AF07-6254E3F7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7C48F-7C51-4D04-8EED-842DBB6D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EFD60-7784-4FB7-B691-2C4E88F1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37ED-F2F8-4422-86ED-74D613D5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B5485-B5FA-46D3-A383-36E42B3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SMARD-CSV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optional Wetter-CSV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ED1C0-0032-44CB-BE08-94123CAC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C9B49-BE5D-4523-B862-33B30E0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5BA22-9D76-40C0-9CD6-120D06A1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84813-8F1C-4C5F-8AA9-B6CB436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Bereinigung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Tagesprofile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Korrelationen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BE286-F07D-4DE0-B1AA-DDB1E71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BEBCD-E031-4067-99FD-DE1F715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434E9-4049-4E7D-9E87-B19C6AF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4D"/>
                </a:solidFill>
              </a:defRPr>
            </a:pPr>
            <a:r>
              <a:rPr sz="1425" b="1">
                <a:solidFill>
                  <a:srgbClr val="1F7A4D"/>
                </a:solidFill>
              </a:rPr>
              <a:t>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1FB02-6FB0-4CF7-9F73-C81DF61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Zeitzyklen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PV-Historie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Wind, Erdgas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F36C4-B3F7-4B5D-AE19-CD03E734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41318-044B-4028-A0CF-B8CD45F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2A499-EBFA-43C9-ACDE-7749A1AA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4"/>
                </a:solidFill>
              </a:defRPr>
            </a:pPr>
            <a:r>
              <a:rPr sz="1425" b="1">
                <a:solidFill>
                  <a:srgbClr val="0B0F14"/>
                </a:solidFill>
              </a:rPr>
              <a:t>Split &amp;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D5C0D-D67B-4D21-8237-C8A8D4A5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chronologisch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Scaler nur 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D7628-050B-4DDE-A03A-048E9438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BD4A5-13CB-454F-8A48-3CBD9F71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F8BF8-4649-4731-8C9F-5E571208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Modelle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73A9D-F82B-46DF-B02F-8249B0D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LSTM und RNN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q0.1, q0.5, q0.9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19ECB-11C3-45B9-8F9E-7A6667C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352550" cy="15240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34ADC-2806-49E9-AD17-DB2DECE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1A891-617A-4B94-9C75-785E2C1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76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4D"/>
                </a:solidFill>
              </a:defRPr>
            </a:pPr>
            <a:r>
              <a:rPr sz="1425" b="1">
                <a:solidFill>
                  <a:srgbClr val="1F7A4D"/>
                </a:solidFill>
              </a:rPr>
              <a:t>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E1B43-06F7-4E1B-88E6-CC673CD2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765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PICP, RMSE</a:t>
            </a:r>
          </a:p>
          <a:p xmlns:a="http://schemas.openxmlformats.org/drawingml/2006/main">
            <a:pPr algn="l">
              <a:defRPr sz="1125" b="0">
                <a:solidFill>
                  <a:srgbClr val="0B0F14"/>
                </a:solidFill>
              </a:defRPr>
            </a:pPr>
            <a:r>
              <a:rPr sz="1125" b="0">
                <a:solidFill>
                  <a:srgbClr val="0B0F14"/>
                </a:solidFill>
              </a:rPr>
              <a:t>Winkler, Pinball</a:t>
            </a:r>
          </a:p>
        </p:txBody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876425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cxnSp>
        <p:nvCxnSpPr>
          <p:cNvPr id="6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590925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305425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19925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734425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9B1122-15B9-4A0D-9B06-CF6AC0BB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561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4C801-1A99-42EF-860A-B06A5D7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Streamlit-Dashboard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710941-F011-4FA7-8C7B-2E11FD4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EE6"/>
                </a:solidFill>
              </a:defRPr>
            </a:pPr>
            <a:r>
              <a:rPr sz="1275" b="0">
                <a:solidFill>
                  <a:srgbClr val="D8DEE6"/>
                </a:solidFill>
              </a:rPr>
              <a:t>macht Metriken, Plots, Protokolle und regelbasierte Interpretation direkt nutzbar</a:t>
            </a:r>
          </a:p>
        </p:txBody>
      </p:sp>
      <p:cxnSp>
        <p:nvCxnSpPr>
          <p:cNvPr id="76" name=""/>
          <p:cNvCxnSpPr>
            <a:stCxn xmlns:a="http://schemas.openxmlformats.org/drawingml/2006/main" id="25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6096000" y="3571875"/>
            <a:ext cx="36766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C0C8"/>
            </a:solidFill>
            <a:prstDash val="solid"/>
            <a:head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5F51D-B683-4493-A845-41DF012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85CDE9-5D10-41D5-AF77-296FF42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6517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27BB1-12C2-4A49-9448-AED0969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51D11-0C24-4DDD-B355-5981DA4C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Datenaufbereitung sorgt dafür, dass aus CSV-Zeilen ein lernbarer Zeitindex wird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AEE6C-FD58-483B-8BF9-5B7EF305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AA904-C95F-427E-BECE-E2289DD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CF1BD-A252-458F-9A14-39AA4681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2BE5C-A814-438D-ABBC-4BD1369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65FF8-06BA-4C5F-A14D-19ECD80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08825-C136-4F0B-AFB9-C52BD567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Die SMARD-Datei wird eingelesen, deutsche Zahlenformate werden konvertiert und Zeitstempel werden als sortierter DatetimeIndex verarbeitet.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740E1-C3EE-469B-B5FF-7753F4A2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1E468-4FBF-48DA-9A6F-A01F180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72F46-1FD4-4C59-9DA5-722343DA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003D6-F4E5-47F5-B8FA-CE60F24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Neuronale Modelle können nur mit konsistenten numerischen Arrays arbeiten. Fehlerhafte Zeitstempel oder Textzahlen würden Training und Evaluation verfälschen.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E43B5-C960-4A8B-94FD-2CCFA20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A8528-CAC4-42A9-8C58-9D09C4B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EE02-DD24-4244-9725-2EE5C4A6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8BBA7-A04C-4970-910D-084BAC3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Flexible CSV-Erkennung, Umwandlung von `4.167,28` zu `4167.28`, Sortierung nach Zeit und Entfernen bzw. Interpolieren fehlender numerischer Werte.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7C321-CB30-41E6-BF0C-5C6D960F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Umsetzung: `eda.py` und `training_utils.py`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9ED4B-544B-416F-89BD-49B103F6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16FFA-9F7A-4875-8DED-8FCF74FB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Optional kann eine Wetter-CSV ergänzt werden. Numerische Wetterspalten werden mit `weather_` präfixiert und zeitlich auf die SMARD-Reihe gemergt.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151B1-6987-4AFB-B85F-1F388D0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62FF0-68EC-4936-BBF7-E24D085E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6263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1A5ED-F751-4602-9E9A-94F79AD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FE380-C4E7-4856-B7FB-52E7B4D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Feature Engineering übersetzt Zeit und Kontext in Modellinformation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0595-FD4B-488E-ADAE-95AEE15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CA354-E23C-4796-A1B2-8D9720E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70873-A6FB-464F-A314-837A1C89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56bf4ee124990"/>
          <a:stretch xmlns:a="http://schemas.openxmlformats.org/drawingml/2006/main"/>
        </p:blipFill>
        <p:spPr>
          <a:xfrm xmlns:a="http://schemas.openxmlformats.org/drawingml/2006/main">
            <a:off x="647700" y="1935956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0886-95E6-42D1-8447-02C4B15E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28800"/>
            <a:ext cx="619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93A05-EC2B-44B3-B4E6-63D58CE0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00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47C1-74A9-42C0-8435-D019F14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Aus Rohspalten werden Eingangsgrößen: PV-Historie, Wind Onshore, Erdgas, Stunde, Wochentag und Wochenende.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8EBEB-78B7-44B2-8971-4D5C9DB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24175"/>
            <a:ext cx="619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DDFB2-173B-4F9E-8FA1-63247627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95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4D"/>
                </a:solidFill>
              </a:defRPr>
            </a:pPr>
            <a:r>
              <a:rPr sz="1650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13107-7E12-4212-8C71-6E26199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PV hat starke Tageszyklen. Sinus/Cosinus kodieren Zeit zyklisch, sodass 23 Uhr und 0 Uhr im Modell nah beieinander liegen.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1C72E-3701-4FBF-A3A9-25C47FCA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619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B264C-477A-4B84-9CDE-78C6512A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91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74C40-660C-4C12-8DBB-902AFD9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`hour_sin`, `hour_cos`, `weekday_sin`, `weekday_cos`, `is_weekend`; optionale Wetterfeatures werden automatisch ergänzt.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EC389-CC88-4861-B2D2-4E7AF480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BEC59-2E9E-4912-99B7-2EF90C8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Der Plot links zeigt, warum Zeitfeatures fachlich sinnvoll sind: Photovoltaik folgt einem klaren Tagesprofil.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909CA-5885-4365-B159-3CF75AB3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CC931-C379-4B56-8BB0-70B334A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4727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CBC98-FF88-4519-8402-B64C5AA7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895B1-01F5-4E6E-95D9-AF2218A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Chronologischer Split und Scaling verhindern Datenleckage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4FABE-245A-4146-9034-3AC1284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5E0B4-7E51-45FA-BC58-F7D6530A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50C2D-0D50-4C6A-8E85-DADE2CA2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29F50-56B3-42FA-BA52-A61450AC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A099C-7A29-4286-8396-550E97C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9297A-0CB9-497D-91DD-BE92661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Zeitreihen werden in Training, Validierung und Test in zeitlicher Reihenfolge geteilt. Danach werden Features und Zielvariable skaliert.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B73BE-D9A9-4858-A3CD-2245F9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EFDAC-CEAE-4D4B-89E3-48D6309D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D7B7F-2C1D-47E5-AE1F-A2E4815E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19C91-5B0F-441E-966A-48F9FBC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Ein zufälliger Split oder ein Scaler auf allen Daten würde Informationen aus dem Testzeitraum ins Training tragen. Das Ergebnis wäre zu optimistisch.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6E447-15D0-421F-8332-857FB13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ECF69-01B9-4530-A4AE-CFA4807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8E22A-AF4E-41B5-9F48-65A7CDE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CD3F1-39E6-4AAD-A36B-01DADAE1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Erst Sequenzen zählen, dann chronologisch trennen. `MinMaxScaler` wird nur auf Trainingszeilen gefittet und anschließend auf Val/Test angewendet.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33598-529F-4175-8549-967A76F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Aktueller Lauf: 173 Train-, 19 Val-, 48 Testsequenzen.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D18FC-B466-42FD-AC7C-29AF2C9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76875"/>
            <a:ext cx="628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E8D99-3AD3-4BD0-BF3F-8C2DADB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483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9FAFB"/>
                </a:solidFill>
              </a:defRPr>
            </a:pPr>
            <a:r>
              <a:rPr sz="1050" b="0">
                <a:solidFill>
                  <a:srgbClr val="F9FAFB"/>
                </a:solidFill>
              </a:rPr>
              <a:t>fit scaler: train only</a:t>
            </a:r>
          </a:p>
          <a:p xmlns:a="http://schemas.openxmlformats.org/drawingml/2006/main">
            <a:pPr algn="l">
              <a:defRPr sz="1050" b="0">
                <a:solidFill>
                  <a:srgbClr val="F9FAFB"/>
                </a:solidFill>
              </a:defRPr>
            </a:pPr>
            <a:r>
              <a:rPr sz="1050" b="0">
                <a:solidFill>
                  <a:srgbClr val="F9FAFB"/>
                </a:solidFill>
              </a:rPr>
              <a:t>transform val + test with train scaler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FC577-BC82-455E-8453-A1DA2091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E473E-7786-4DDF-BF61-04CB22FD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7090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3E1C6-FDF7-45BF-BA5E-B755CA9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2892E-440B-4E9B-B72D-5B43EC1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Der Sequenzbau macht aus Einzelwerten ein Zeitreihenproblem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1452-A334-4206-8240-033E9F8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DB0E3-A8A6-4E92-8AEE-244AA0E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C6CCC-72A6-4C91-88B5-A7B15561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F1FD-41AF-44A1-92F9-7D82F37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2F46B-80FF-46E8-B3F2-6310CBF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98E9C-57A5-4B01-B839-70C8749E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Für jede Vorhersage bekommt das Modell ein Fenster vergangener Beobachtungen statt nur einen einzelnen Zeitpunkt.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626D2-7872-48A3-80AD-BE77C2CF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A1227-5504-4DE5-A1E3-42DE9CE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08DA2-7EA0-48B4-96BD-2266AAC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C6859-25ED-4F2B-9A63-E53174E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PV-Erzeugung hängt stark vom Verlauf der letzten Stunden ab. Ein Sequenzmodell kann Muster wie Tagesanstieg, Peak und Abendabfall lernen.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A1C9B-69D1-4DD7-A47D-B684B19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F34E0-13BB-4674-A689-86A77FD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34E1B-7594-45D3-8170-13DFD38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50FF1-C7D6-403D-9E33-EF8025EF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Die erkannte Auflösung bestimmt das 24h-Fenster. Bei stündlichen Daten entstehen Sequenzen der Form `(24, Anzahl Features)`.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A5E8C-ED80-4B00-AF6D-ABF39B5D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Umsetzung: `create_sequences()` und `infer_window_size()`.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A31C0-48BE-47F8-B320-E059C98F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477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89F0D-BEDA-4A00-AEC9-7CD85C6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Beispiel: 24 Stunden Vergangenheit  -&gt;  Vorhersage für den nächsten Zielzeitpunkt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07607-8405-48B5-9A39-70FD752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20585-32B8-41AB-9199-80DA040D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8945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CD4D9-B11D-4B03-8E26-1293AEB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C243F-4E78-48FB-8B7A-42788FF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Quantile ersetzen die reine Punktprognose durch Unsicherheitsinformation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DA3E8-67F3-4E36-ABC0-072F908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B61C9-0AEB-492E-9DC3-45E57ED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601E-E848-456D-93D4-67563B7B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F853A-E417-4DB2-805A-E27074A4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2E445-EBC0-4726-9A3F-6E744624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5E8FF-3D3D-4432-8299-B6867CE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Das Modell gibt drei Werte aus: q0.1 als untere Grenze, q0.5 als Median und q0.9 als obere Grenze.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51EE4-CE6C-4553-B8ED-5C11AFBD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C94D4-0068-4A21-B381-339CD6AE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C6950-5D96-477A-9436-D6FF4706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8C699-3CFC-47CC-97D0-25A596FD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Bei volatiler PV-Erzeugung ist ein einzelner Wert zu wenig. Das Intervall zeigt, wie breit der plausible Bereich 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4234D-1FE8-4E75-A994-728209C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Gewählt, weil 80% gut erklärbar ist und die Unsicherheit sichtbar macht, ohne zu extrem breite Bänder zu erzwingen.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8CC0F-7C01-41C9-BFD7-A48B97A2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9523E-A036-4027-964F-45EDB26F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BF977-AD1F-4725-ABE6-EDAC2E1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EB317-1D59-46F1-8761-1D72F06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Die letzte lineare Schicht hat drei Outputs. Aus q0.1 bis q0.9 entsteht ein nominelles 80%-Vorhersageintervall.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A7072-0E39-4ED5-B714-B3C9838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F65F5-AFE4-4984-8A22-344D4AE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5745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EBA38-D2E5-462A-8B27-6B0CB88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5BE8-DF83-4C40-B142-B915EC5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Pinball Loss trainiert Quantile anders als klassische Fehlermaße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699B3-1C82-4033-A73D-5DF3106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402BE-3C03-4C68-A650-675360B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1E75D-1E9D-4184-A563-29C3EB17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85916-CBA0-4385-A2C5-2C8CEAE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0C9D4-79CD-4AA0-86C5-946C425B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A5B76-0E76-494E-834F-AA1DD51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Pinball Loss ist eine asymmetrische Verlustfunktion für Quantile. Unter- und Überschätzung werden je nach Quantil unterschiedlich bestraft.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B54B8-4FAD-4F24-9C1E-81513CE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39C35-47D6-43CE-9A37-241EFBF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4104-36B8-406E-BD6D-9D8CF47D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CC87-4BCD-4DB6-8AD5-82A474B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MSE oder MAE trainieren zentrale Punktwerte. Für q0.1 und q0.9 brauchen wir einen Loss, der gezielt untere und obere Grenzen lernt.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D39DD-F158-43EA-946D-D838962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3F065-D3F6-47B0-8E96-8BE8C522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288F9-EE54-4CDF-9601-3921B86E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84CBF-F8E8-4E1C-B2D2-44BBCC0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Für jedes Quantil wird der Quantilfehler berechnet. Die Losses für q0.1, q0.5 und q0.9 werden summiert.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67E18-5AF2-4656-9B0C-27D852E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Zusätzlich wird eine Crossing-Penalty addiert.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2FB6F-53F6-43D8-A19F-A84CA4C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22623-04E7-4972-861F-4404657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48325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9FAFB"/>
                </a:solidFill>
              </a:defRPr>
            </a:pPr>
            <a:r>
              <a:rPr sz="1050" b="0">
                <a:solidFill>
                  <a:srgbClr val="F9FAFB"/>
                </a:solidFill>
              </a:rPr>
              <a:t>loss = sum(max((q - 1) * error, q * error))</a:t>
            </a:r>
          </a:p>
          <a:p xmlns:a="http://schemas.openxmlformats.org/drawingml/2006/main">
            <a:pPr algn="l">
              <a:defRPr sz="1050" b="0">
                <a:solidFill>
                  <a:srgbClr val="F9FAFB"/>
                </a:solidFill>
              </a:defRPr>
            </a:pPr>
            <a:r>
              <a:rPr sz="1050" b="0">
                <a:solidFill>
                  <a:srgbClr val="F9FAFB"/>
                </a:solidFill>
              </a:rPr>
              <a:t>training_loss = pinball_loss + 0.2 * crossing_penalty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8D9B0-54F0-430E-977C-29E37F5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34A9D-315F-4B6A-BE89-7687CD61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68036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86638-08FF-4F3E-8DB3-F5C1374B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MODELL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2B2F5-0302-4E50-A9DA-E8A58C1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Das LSTM ist das leistungsfähigere Sequenzmodell für längere Abhängigkeiten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5BFAA-1171-4421-A2C4-73686A8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88342-077A-4ACA-90E6-0BB13D6E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211DD-F107-4FEE-A421-AF4BD16F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B65FC-994F-4D81-B14F-FAD96ED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69B37-F455-47ED-BB1C-7F3F20FD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78FC8-5BBC-4332-86FB-1E8BFF8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Ein LSTM ist ein rekurrentes neuronales Netz mit Gates. Es kann Informationen über mehrere Zeitschritte kontrolliert speichern oder vergessen.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2BB2C-4469-4022-B2CC-007BA37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842B0-F7E0-4E88-8556-3FE4F5F4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55B85-46FB-4534-8361-94FFAA22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59F77-8297-48F6-BCF7-694FC87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Es ist geeignet, wenn zeitliche Muster länger wirken und einfache RNNs beim Lernen über viele Schritte instabil werden.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09986-9146-44B9-A2B4-7080200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Wir nutzen es als stärkeres Referenzmodell.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54CEE-DBFA-4E2A-9727-199FDE4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0417A-55F7-41AF-87F0-74C5CD2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703E6-D58E-4AA7-840E-7771116D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7699F-0E29-4CE1-9D83-F63779FF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PyTorch `nn.LSTM` mit 2 Schichten, Hidden Size 128, Dropout 0.2. Aus dem letzten Zeitschritt erzeugt eine lineare Schicht drei Quantile.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A0C0E-1F2E-48C5-926D-FBE97C9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32B0F-5E6E-465C-937B-71A41CD1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1464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4F426-3387-4CB6-8FA5-482B15F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MODELL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E22F-DC31-438F-B03C-E19D488A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Das einfache RNN dient als bewusst verständliche Vergleichsbasis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1DC72-FAAB-44EE-9C52-0AFBE1DB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DA3E-C5C3-40E2-842E-EBC0119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1976D-4DDC-4F08-9874-51726048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2A8E2-D244-47CE-BDEC-47A1147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2EEC5-4FC9-47B1-A61B-1068D49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93FA3-F8C0-4116-A47F-C97AB68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Ein RNN verarbeitet eine Sequenz Schritt für Schritt und aktualisiert dabei einen versteckten Zustand.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23C91-E370-42DF-8644-C1A5CF8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2E716-F589-40B8-B411-B48D56E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6E5E5-BA26-41A3-9504-1C1336D5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D8940-ABD5-4082-9A59-366782E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Es ist leichter interpretierbar und schneller als ein LSTM. Als Baseline zeigt es, ob die komplexere LSTM-Struktur wirklich nötig 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CE3DB-2F8C-4C9E-A75F-5E05FA7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Der Vergleich ist fairer, weil Training und Evaluation identisch bleiben.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3C3B1-A99A-4D97-8512-AFD98EB2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DFAA0-3B02-47FF-BA25-7A78183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44492-0A31-4688-AF08-B945EA7B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AA4B-5935-4524-8497-3A27C6FC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PyTorch `nn.RNN` mit derselben Hidden Size, Schichtzahl und Ausgabestruktur wie das LSTM. Nur die rekurrente Kernschicht unterscheidet sich.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B01EB-64BF-4750-B6FB-4A09CC3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110CC-8421-4E7B-8A7E-10C78C2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1444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F2929-3384-450E-9CDD-E1F32CB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CFFC5-B12D-4A6B-B607-D9A14AA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Das Training ist auf Reproduzierbarkeit und stabile Quantile ausgelegt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0E5CE-C8FF-4441-BF51-AF19F9C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CCF14-5505-417F-9A4B-67C8169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E0ACF-4670-4CC1-A4B2-5013BC6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5DE4-1D4F-4001-B71B-8CA4A0F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D8727-470E-4399-A7E0-62A81C90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3B43D-DA48-4690-84AD-677573A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Beide Modelle werden mit derselben Trainingslogik, denselben Quantilen, denselben Splits und derselben Evaluation trainiert.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43852-89CB-4CD0-9F71-A05A96B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EC266-6E88-4ECD-844F-F426CC5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10BB5-77AF-468B-8E33-AB8FFB6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038BF-B7F6-4CA6-BE1D-748E545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So unterscheiden sich die Ergebnisse primär durch die Architektur und nicht durch zufällige Pipeline-Unterschiede.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76FC0-ED75-4789-ABAF-C83E0814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1C360-CF56-402A-B205-A2A2A79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2DCAA-D6DD-459C-A69B-FD7D4D50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623F0-4BF1-4BE2-A810-75339E2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Seed 42, DataLoader mit Generator, Early Stopping über Validierungsloss, bester Checkpoint, Crossing-Penalty und Sortierung vor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6A7B-2E75-4CE9-94B2-995262C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Training: Pinball Loss plus Quantile-Crossing-Penalty.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7B58B-09A7-4AE5-8A01-ADF3E41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A93AD-F0FA-4DC0-9BFC-04AEC57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22406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9DFB6-88E6-49B7-82D6-19353D88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VERFAHREN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FFB14-73ED-4AD7-9AE2-00D6BD5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Die Evaluation bewertet Punktfehler und Unsicherheit gemeinsam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97452-DC9A-41B0-A6C9-F497A1C3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28A67-92D5-4331-897D-9A83723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31651-3476-4E05-A15B-E93112C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A88D9-CB5B-45B4-AE4D-C5CF873B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4D"/>
                </a:solidFill>
              </a:defRPr>
            </a:pPr>
            <a:r>
              <a:rPr sz="1650" b="1">
                <a:solidFill>
                  <a:srgbClr val="1F7A4D"/>
                </a:solidFill>
              </a:rPr>
              <a:t>PICP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1353-4201-4F88-8109-9A8724FF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Anteil echter Werte im 80%-Intervall. Ziel ist Nähe zu 80%.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DFE17-042F-4A05-B642-27C437B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7821-96BC-4711-BD62-D39A4C2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Breite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B31B3-E618-4570-8E9A-B89B368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Wie informativ oder breit das Unsicherheitsband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BA14D-1593-47AD-98DE-0D0FD3EE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7ACA3-30C0-454D-B480-1D16B44C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38950-00D0-47BF-8C1D-C8D79DF4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432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Fehler der zentralen q0.5-Prognose.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E9366-E3DB-4BC9-AD1A-664DB953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45CDC-339A-4B71-A87D-7038B54C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Pinball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0EBD4-1E9A-41E4-A184-EA000840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Qualität jedes einzelnen Quantils.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505C7-8023-4E9E-BC60-E692800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D96DD-A6B8-4A9A-9F61-8544A85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Winkler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AC95-21A6-4014-8A56-78A16D7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053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Kombiniert Intervallbreite und Strafe für Werte außerhalb.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42E5-9111-46F7-B82E-EABA079D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67508-E4A2-4CFD-8D1D-FAFC9878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Crossing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A77A-188D-4C4B-AB01-942361E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4"/>
                </a:solidFill>
              </a:defRPr>
            </a:pPr>
            <a:r>
              <a:rPr sz="1275" b="0">
                <a:solidFill>
                  <a:srgbClr val="0B0F14"/>
                </a:solidFill>
              </a:rPr>
              <a:t>Prüft, ob q0.1 &lt;= q0.5 &lt;= q0.9 eingehalten wird.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82F00-2868-4E4C-9CE8-845B566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F1900-C329-4B8E-AFDC-6CE3E5D2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Wichtig für die Präsentation: Ein niedriger RMSE allein reicht nicht. Ein probabilistisches Modell muss auch kalibriert sein.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65097-6C4C-4FE5-B1D8-5BC337B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84F9C-F3D2-4AC2-9FC8-A40AF68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0759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65C45-07E7-4EEE-A3FB-8EB8B8F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UMSETZUNG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481EA-343A-4988-B760-1E2B54E4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Das Dashboard übersetzt technische Artefakte in eine nachvollziehbare Ergebnisansicht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C958B-0A1B-4091-8DE2-787DFB1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F4524-9019-4740-AD94-9A23D6B1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CF227-7BF1-4A55-8D08-0F31EE5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153F9-56A8-4822-8BD3-CB2B281F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7663E-D499-4D9B-8EF8-40634A21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D640D-1F69-44FF-85CA-4199F58D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Streamlit stellt Upload, Pipeline-Start, Ergebnisansicht, Plots, Dateien, Protokoll und Impressum bereit.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02678-4357-4115-BC3D-0766BB2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18695-7941-4A42-B356-21EAF66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41C60-0A26-4E7D-9F02-4BD36038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</a:defRPr>
            </a:pPr>
            <a:r>
              <a:rPr sz="1875" b="1">
                <a:solidFill>
                  <a:srgbClr val="1F7A4D"/>
                </a:solidFill>
              </a:rPr>
              <a:t>Warum?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AC229-E965-4842-812A-AFFC71D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Das Projekt soll nicht nur Skripte liefern, sondern einen reproduzierbaren Ablauf, den Außenstehende bedienen und prüfen können.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8D611-A7F5-493D-BDBA-B8717F64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41A48-305E-48C7-8B24-A647A5C1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A2660-5FA5-429B-A0AF-238A8A9C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Wie?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567BB-557D-4B5F-9879-9EBD797F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Nach der Pipeline wird ein Dashboard-Bundle erzeugt. Die Oberfläche liest kompakte Metriken, Vorschaubilder und Logauszüge statt ständig Rohdateien neu zu laden.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02618-DBB5-4724-8BE5-EAD80D07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Docker Compose kapselt Start und Abhängigkeiten.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983DF-FFA9-44AF-A821-CCDA3EBB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BC025-482A-4E63-B522-C43690D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1628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DF0BE-5F8B-4A18-9003-B76CDBB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STÄRKEN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60C87-B4B2-49EE-9E85-D23A110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Was das Projekt bereits gut kann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E0AE5-3625-40B9-BC81-D7B2A6E8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EA849-2BC7-449B-BF38-85B5F0A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0006A-0435-4308-9288-CA27593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AEE1F-FCD7-40D6-84AB-E05E32D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Saubere Methodik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FB3DC-2BCB-456B-AA07-7BE8B82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Chronologischer Split und Scaler-Fit nur auf Trainingsdaten reduzieren Datenleckage.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95756-95EB-4BE0-9DE2-5250DAFE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D637E-2FB7-462C-9EFB-789DBC9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Probabilistische Sicht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DA774-76C6-4286-920D-05810AC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Die Prognose zeigt Unsicherheit statt nur einen einzelnen Zielwert.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D7EB2-38F8-4BBF-8854-7BEC643A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5B01C-8E68-4E01-9E9F-7A01D8A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Vergleichbarkeit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6980A-E7A0-4FCC-8AB2-673D0D7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LSTM und RNN teilen sich Training, Sequenzbau, Evaluation und Plotting.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E724A-DA69-4EB9-AB71-BA12074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E06D5-0EB1-4795-A385-F0CDB15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Nachvollziehbarkeit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743A4-4079-4F4E-B8D4-B7C1FAD4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Metriken, Feature Importance, Kalibrierung, Protokoll und Dashboard erklären den Lauf.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1276D-B857-456B-8B79-986BA63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54B91-5EDB-47B7-82C4-9AE6D7EC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Reproduzierbarkeit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A1F71-320E-4FC6-9521-439A2C85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Seeds, gepinnte Dependencies, Docker Compose und Artefaktstruktur machen Läufe leichter prüfbar.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CFFD9-230F-46DB-9278-EE98481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3E774-C0DC-47BB-9393-110CE76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</a:defRPr>
            </a:pPr>
            <a:r>
              <a:rPr sz="1575" b="1">
                <a:solidFill>
                  <a:srgbClr val="1F7A4D"/>
                </a:solidFill>
              </a:rPr>
              <a:t>Erweiterbarkeit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3AE8D-B2F7-421E-88AF-B80C36A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Wetterfeatures sind bereits vorgesehen und können fachlich sinnvoll ergänzt werden.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23AB9-AD46-4707-A836-D6AB9BA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0B725-7B86-44A5-A99F-5412B902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69993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42FEF1-8E54-435E-8F80-AC0E8A8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070"/>
                </a:solidFill>
              </a:defRPr>
            </a:pPr>
            <a:r>
              <a:rPr sz="975" b="1">
                <a:solidFill>
                  <a:srgbClr val="556070"/>
                </a:solidFill>
              </a:rPr>
              <a:t>GRENZEN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2993-F87C-4E53-99B2-B2F1E11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B0F14"/>
                </a:solidFill>
              </a:defRPr>
            </a:pPr>
            <a:r>
              <a:rPr sz="2775" b="0">
                <a:solidFill>
                  <a:srgbClr val="0B0F14"/>
                </a:solidFill>
              </a:rPr>
              <a:t>Was man kritisch sehen muss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2D535-8BB9-49C1-8266-6054F04C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solidFill>
              <a:srgbClr val="B8C0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9662-6F01-4E6F-B6CB-EF5DC700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8EEE8-DBED-4C1D-B1DC-58ACE3E5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C4AE9-588A-49F6-AF59-57DD3EF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Keine echte Wetterprognose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80519-7D4B-45A7-B98D-2815CC24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Ohne Globalstrahlung, Bewölkung und Temperatur bleibt PV fachlich begrenzt.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8B542-23D0-4C98-9CD4-0D659270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6ECF-6B84-40F2-BC68-7302400F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Kleine Datenbasis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88B77-A5C3-4A28-B92B-C1C41CE3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Ein kurzer Zeitraum reicht für einen Prototyp, aber nicht für robuste saisonale Aussagen.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943F5-C022-4FAB-9A58-35B2EDDC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F9F56-9A58-4DDE-9531-D686B32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Kein operativer Einsatz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C2761-CB9F-4E5E-93F6-7AB45D3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Das System ist ein Demonstrations- und Forschungsprojekt, kein produktives Netzprognosesystem.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370A2-3CA8-4382-BA33-8A0FCF21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307F9-D233-45A2-BE4A-E0DE444C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Modellvergleich ist laufabhängig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ABCED-7FC3-4B4F-B509-40E1E97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Dass ein Modell im Beispiel besser wirkt, ist kein allgemeingültiger Architekturbeweis.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96E2A-A2AC-42B8-BBD0-BAE4074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22AFB-EFA7-4ED5-97F1-27A8C0F9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Unsicherheit muss kalibriert werden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E1C23-D089-46A0-A070-8D4F901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Zu breite Intervalle wirken gut bei Coverage, sind aber weniger informativ.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BC8D5-6BF6-48DC-919A-3DBA347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4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9219D-4177-45FD-84EA-BEAD7BD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Exogene Ereignisse fehlen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7B282-C61D-4817-984D-FAE9372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624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</a:defRPr>
            </a:pPr>
            <a:r>
              <a:rPr sz="1200" b="0">
                <a:solidFill>
                  <a:srgbClr val="0B0F14"/>
                </a:solidFill>
              </a:rPr>
              <a:t>Feiertage, Marktverhalten, Anlagenänderungen oder Datenfehler werden nicht explizit modelliert.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CE05A-1564-4D27-AA87-A2C0D2AF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Probabilistische Energiedatenvorhersage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5A03C-6EE8-42D1-9493-3B0BA74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6070"/>
                </a:solidFill>
              </a:defRPr>
            </a:pPr>
            <a:r>
              <a:rPr sz="900" b="1">
                <a:solidFill>
                  <a:srgbClr val="5560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22068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2D082-40F9-48EC-B9E7-D2A9F91C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Vielen Dank für eure Aufmerksamkeit!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4ECBE-1CBD-4780-9D43-45C9FFA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EE6"/>
                </a:solidFill>
              </a:defRPr>
            </a:pPr>
            <a:r>
              <a:rPr sz="2100" b="0">
                <a:solidFill>
                  <a:srgbClr val="D8DEE6"/>
                </a:solidFill>
              </a:rPr>
              <a:t>Fragen und Diskussion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82143-A890-4588-80C5-84C4CCB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733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BF87B-76F4-4B28-88BA-F602C58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Kernaussage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40383-0AAE-45D7-B41D-11616D88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Das Projekt ist vor allem stark, weil es Unsicherheit modelliert, methodisch sauber bewertet und die Ergebnisse transparent zugänglich macht.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EDB97-2BA7-4E36-B149-CCEFAB17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BE"/>
                </a:solidFill>
              </a:defRPr>
            </a:pPr>
            <a:r>
              <a:rPr sz="900" b="1">
                <a:solidFill>
                  <a:srgbClr val="AAB3BE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14033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2026-07-13T10:20:07.1520000Z</dcterms:created>
  <dcterms:modified xsi:type="dcterms:W3CDTF">2026-07-13T10:20:07.1520000Z</dcterms:modified>
</coreProperties>
</file>