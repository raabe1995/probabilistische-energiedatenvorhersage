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6d89968dfc487a" /><Relationship Type="http://schemas.openxmlformats.org/officeDocument/2006/relationships/extended-properties" Target="/docProps/app.xml" Id="R0cd4e5a5ae9848d1" /><Relationship Type="http://schemas.openxmlformats.org/officeDocument/2006/relationships/officeDocument" Target="/ppt/presentation.xml" Id="R07ff112eea844d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5eab785bb44e3f"/>
  </p:sldMasterIdLst>
  <p:notesMasterIdLst>
    <p:notesMasterId xmlns:r="http://schemas.openxmlformats.org/officeDocument/2006/relationships" r:id="R0f941a1d935d4115"/>
  </p:notesMasterIdLst>
  <p:sldIdLst>
    <p:sldId xmlns:r="http://schemas.openxmlformats.org/officeDocument/2006/relationships" id="256" r:id="R903ed3e6efcd4948"/>
    <p:sldId xmlns:r="http://schemas.openxmlformats.org/officeDocument/2006/relationships" id="257" r:id="R1b42186431974364"/>
    <p:sldId xmlns:r="http://schemas.openxmlformats.org/officeDocument/2006/relationships" id="258" r:id="R6d693924613a4c1d"/>
    <p:sldId xmlns:r="http://schemas.openxmlformats.org/officeDocument/2006/relationships" id="259" r:id="R4e280949e1644876"/>
    <p:sldId xmlns:r="http://schemas.openxmlformats.org/officeDocument/2006/relationships" id="260" r:id="R2f62621354ff4d76"/>
    <p:sldId xmlns:r="http://schemas.openxmlformats.org/officeDocument/2006/relationships" id="261" r:id="R4f22cdcdf09f4812"/>
    <p:sldId xmlns:r="http://schemas.openxmlformats.org/officeDocument/2006/relationships" id="262" r:id="Re536ec7f8e7f4355"/>
    <p:sldId xmlns:r="http://schemas.openxmlformats.org/officeDocument/2006/relationships" id="263" r:id="R2979e7d91f0c452e"/>
    <p:sldId xmlns:r="http://schemas.openxmlformats.org/officeDocument/2006/relationships" id="264" r:id="R1a4b10034dc04d70"/>
    <p:sldId xmlns:r="http://schemas.openxmlformats.org/officeDocument/2006/relationships" id="265" r:id="R066e85be24f248f0"/>
    <p:sldId xmlns:r="http://schemas.openxmlformats.org/officeDocument/2006/relationships" id="266" r:id="Ra4143031b3ac4ddd"/>
    <p:sldId xmlns:r="http://schemas.openxmlformats.org/officeDocument/2006/relationships" id="267" r:id="Rfe33102a20384b82"/>
    <p:sldId xmlns:r="http://schemas.openxmlformats.org/officeDocument/2006/relationships" id="268" r:id="R6606606a67814c2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aa348f631d4b12" /><Relationship Type="http://schemas.openxmlformats.org/officeDocument/2006/relationships/slideMaster" Target="/ppt/slideMasters/slideMaster1.xml" Id="R545eab785bb44e3f" /><Relationship Type="http://schemas.openxmlformats.org/officeDocument/2006/relationships/notesMaster" Target="/ppt/notesMasters/notesMaster1.xml" Id="R0f941a1d935d4115" /><Relationship Type="http://schemas.openxmlformats.org/officeDocument/2006/relationships/presProps" Target="/ppt/presProps.xml" Id="R8041bf07af23496c" /><Relationship Type="http://schemas.openxmlformats.org/officeDocument/2006/relationships/tableStyles" Target="/ppt/tableStyles.xml" Id="Rb494bc40fa834533" /><Relationship Type="http://schemas.openxmlformats.org/officeDocument/2006/relationships/slide" Target="/ppt/slides/slide1.xml" Id="R903ed3e6efcd4948" /><Relationship Type="http://schemas.openxmlformats.org/officeDocument/2006/relationships/slide" Target="/ppt/slides/slide2.xml" Id="R1b42186431974364" /><Relationship Type="http://schemas.openxmlformats.org/officeDocument/2006/relationships/slide" Target="/ppt/slides/slide3.xml" Id="R6d693924613a4c1d" /><Relationship Type="http://schemas.openxmlformats.org/officeDocument/2006/relationships/slide" Target="/ppt/slides/slide4.xml" Id="R4e280949e1644876" /><Relationship Type="http://schemas.openxmlformats.org/officeDocument/2006/relationships/slide" Target="/ppt/slides/slide5.xml" Id="R2f62621354ff4d76" /><Relationship Type="http://schemas.openxmlformats.org/officeDocument/2006/relationships/slide" Target="/ppt/slides/slide6.xml" Id="R4f22cdcdf09f4812" /><Relationship Type="http://schemas.openxmlformats.org/officeDocument/2006/relationships/slide" Target="/ppt/slides/slide7.xml" Id="Re536ec7f8e7f4355" /><Relationship Type="http://schemas.openxmlformats.org/officeDocument/2006/relationships/slide" Target="/ppt/slides/slide8.xml" Id="R2979e7d91f0c452e" /><Relationship Type="http://schemas.openxmlformats.org/officeDocument/2006/relationships/slide" Target="/ppt/slides/slide9.xml" Id="R1a4b10034dc04d70" /><Relationship Type="http://schemas.openxmlformats.org/officeDocument/2006/relationships/slide" Target="/ppt/slides/slide10.xml" Id="R066e85be24f248f0" /><Relationship Type="http://schemas.openxmlformats.org/officeDocument/2006/relationships/slide" Target="/ppt/slides/slide11.xml" Id="Ra4143031b3ac4ddd" /><Relationship Type="http://schemas.openxmlformats.org/officeDocument/2006/relationships/slide" Target="/ppt/slides/slide12.xml" Id="Rfe33102a20384b82" /><Relationship Type="http://schemas.openxmlformats.org/officeDocument/2006/relationships/slide" Target="/ppt/slides/slide13.xml" Id="R6606606a67814c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4cb5b98b6e43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0c65f3085e490c" /><Relationship Type="http://schemas.openxmlformats.org/officeDocument/2006/relationships/notesMaster" Target="/ppt/notesMasters/notesMaster1.xml" Id="Rf0f16749ddec4b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c05688ee38427c" /><Relationship Type="http://schemas.openxmlformats.org/officeDocument/2006/relationships/notesMaster" Target="/ppt/notesMasters/notesMaster1.xml" Id="Rfcd9a806fcb347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199cf21fcc4686" /><Relationship Type="http://schemas.openxmlformats.org/officeDocument/2006/relationships/notesMaster" Target="/ppt/notesMasters/notesMaster1.xml" Id="Rcda1072e7ea041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0ce28ea9394478" /><Relationship Type="http://schemas.openxmlformats.org/officeDocument/2006/relationships/notesMaster" Target="/ppt/notesMasters/notesMaster1.xml" Id="R763aef92e25241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56d7ed48794f83" /><Relationship Type="http://schemas.openxmlformats.org/officeDocument/2006/relationships/notesMaster" Target="/ppt/notesMasters/notesMaster1.xml" Id="R571f5397242149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3afdca46874e9a" /><Relationship Type="http://schemas.openxmlformats.org/officeDocument/2006/relationships/notesMaster" Target="/ppt/notesMasters/notesMaster1.xml" Id="R3b7c16cac3f448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3dd7b0e69e4e12" /><Relationship Type="http://schemas.openxmlformats.org/officeDocument/2006/relationships/notesMaster" Target="/ppt/notesMasters/notesMaster1.xml" Id="R7331724379964e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772aad449b4eb4" /><Relationship Type="http://schemas.openxmlformats.org/officeDocument/2006/relationships/notesMaster" Target="/ppt/notesMasters/notesMaster1.xml" Id="R25d242b42d2e4a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48e6bfd670465d" /><Relationship Type="http://schemas.openxmlformats.org/officeDocument/2006/relationships/notesMaster" Target="/ppt/notesMasters/notesMaster1.xml" Id="R257e59942ecb46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9c02ed999d4bf7" /><Relationship Type="http://schemas.openxmlformats.org/officeDocument/2006/relationships/notesMaster" Target="/ppt/notesMasters/notesMaster1.xml" Id="R871aabdfaeb845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c65e7b9258424e" /><Relationship Type="http://schemas.openxmlformats.org/officeDocument/2006/relationships/notesMaster" Target="/ppt/notesMasters/notesMaster1.xml" Id="R8c2cf1deb62441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2f1981b0594922" /><Relationship Type="http://schemas.openxmlformats.org/officeDocument/2006/relationships/notesMaster" Target="/ppt/notesMasters/notesMaster1.xml" Id="R4d6a311698b641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97d8d50c914bbf" /><Relationship Type="http://schemas.openxmlformats.org/officeDocument/2006/relationships/notesMaster" Target="/ppt/notesMasters/notesMaster1.xml" Id="R6852b62c04fd42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d9becded2646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daa220a59a499e" /><Relationship Type="http://schemas.openxmlformats.org/officeDocument/2006/relationships/slideLayout" Target="/ppt/slideLayouts/slideLayout1.xml" Id="R88b40a199bf943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b40a199bf943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874c279f9456a" /><Relationship Type="http://schemas.openxmlformats.org/officeDocument/2006/relationships/notesSlide" Target="/ppt/notesSlides/notesSlide1.xml" Id="R60c892d22fef43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e5950b3f74e84" /><Relationship Type="http://schemas.openxmlformats.org/officeDocument/2006/relationships/notesSlide" Target="/ppt/notesSlides/notesSlide2.xml" Id="R78e999258a964a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957e2d3cd4962" /><Relationship Type="http://schemas.openxmlformats.org/officeDocument/2006/relationships/notesSlide" Target="/ppt/notesSlides/notesSlide3.xml" Id="Rdbff1f964cdb48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e5d1b8ac94c10" /><Relationship Type="http://schemas.openxmlformats.org/officeDocument/2006/relationships/notesSlide" Target="/ppt/notesSlides/notesSlide4.xml" Id="Rb7a053a2e4e24e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7ff964d4b46b5" /><Relationship Type="http://schemas.openxmlformats.org/officeDocument/2006/relationships/notesSlide" Target="/ppt/notesSlides/notesSlide5.xml" Id="Re338f81205fe40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ee16cce3f4f17" /><Relationship Type="http://schemas.openxmlformats.org/officeDocument/2006/relationships/image" Target="/ppt/media/image.png" Id="R9eaf4ec7f364462b" /><Relationship Type="http://schemas.openxmlformats.org/officeDocument/2006/relationships/image" Target="/ppt/media/image2.png" Id="R44f7ed8096794a0b" /><Relationship Type="http://schemas.openxmlformats.org/officeDocument/2006/relationships/notesSlide" Target="/ppt/notesSlides/notesSlide6.xml" Id="R7934c7fb72c146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ff90e9af0410e" /><Relationship Type="http://schemas.openxmlformats.org/officeDocument/2006/relationships/image" Target="/ppt/media/image3.png" Id="R62c98b733e184a72" /><Relationship Type="http://schemas.openxmlformats.org/officeDocument/2006/relationships/image" Target="/ppt/media/image4.png" Id="R0783bca88ae9425f" /><Relationship Type="http://schemas.openxmlformats.org/officeDocument/2006/relationships/notesSlide" Target="/ppt/notesSlides/notesSlide7.xml" Id="R324f04dcd60c41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23f96dcc44cae" /><Relationship Type="http://schemas.openxmlformats.org/officeDocument/2006/relationships/notesSlide" Target="/ppt/notesSlides/notesSlide8.xml" Id="Rd369595ac7e24b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c999d9b9f4914" /><Relationship Type="http://schemas.openxmlformats.org/officeDocument/2006/relationships/image" Target="/ppt/media/image5.png" Id="R39973dbb37e44e3c" /><Relationship Type="http://schemas.openxmlformats.org/officeDocument/2006/relationships/image" Target="/ppt/media/image6.png" Id="Re33e6f0999a0439d" /><Relationship Type="http://schemas.openxmlformats.org/officeDocument/2006/relationships/notesSlide" Target="/ppt/notesSlides/notesSlide9.xml" Id="Rc2d057c6136241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66a6c30414a68" /><Relationship Type="http://schemas.openxmlformats.org/officeDocument/2006/relationships/image" Target="/ppt/media/image7.png" Id="R3552109f20b04083" /><Relationship Type="http://schemas.openxmlformats.org/officeDocument/2006/relationships/notesSlide" Target="/ppt/notesSlides/notesSlide10.xml" Id="Raa5b7b7faaa946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3b62bf5ec4991" /><Relationship Type="http://schemas.openxmlformats.org/officeDocument/2006/relationships/notesSlide" Target="/ppt/notesSlides/notesSlide11.xml" Id="Rbabfc57feff147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b9a22db3244c1" /><Relationship Type="http://schemas.openxmlformats.org/officeDocument/2006/relationships/notesSlide" Target="/ppt/notesSlides/notesSlide12.xml" Id="Rae00637e213c4c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c194f09fb4049" /><Relationship Type="http://schemas.openxmlformats.org/officeDocument/2006/relationships/notesSlide" Target="/ppt/notesSlides/notesSlide13.xml" Id="R8aaf914a9c8a4c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35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F43CE8-FA3B-4BC2-8402-B31DA412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533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Probabilistische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Energiedaten-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vorhersage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31A5F-17BB-48B6-9022-813407C8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DE8F5"/>
                </a:solidFill>
              </a:defRPr>
            </a:pPr>
            <a:r>
              <a:rPr sz="1575" b="0">
                <a:solidFill>
                  <a:srgbClr val="DDE8F5"/>
                </a:solidFill>
              </a:rPr>
              <a:t>Eine kompakte technische Vorstellung der Pipeline: Upload, EDA, Features, Split, Modelle und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E72A9-4673-4A90-84EC-C40B9FD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SMARD-Marktdaten · PyTorch · Quantilregression · Streamlit · Docker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94AA8-722C-4606-BA11-DE7AA846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8F5"/>
                </a:solidFill>
              </a:defRPr>
            </a:pPr>
            <a:r>
              <a:rPr sz="1200" b="0">
                <a:solidFill>
                  <a:srgbClr val="DDE8F5"/>
                </a:solidFill>
              </a:rPr>
              <a:t>Jan-Christian Raabe und Valentin Bäumer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30358-B80C-4902-BEB7-606D919C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14450"/>
            <a:ext cx="29527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74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1729B-45EB-400A-850A-803362B9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954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8B5A"/>
                </a:solidFill>
              </a:defRPr>
            </a:pPr>
            <a:r>
              <a:rPr sz="2550" b="1">
                <a:solidFill>
                  <a:srgbClr val="228B5A"/>
                </a:solidFill>
              </a:rPr>
              <a:t>q0.9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00327-AE28-4BF9-9DF4-59C046EC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oberer Rand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110D8-4B49-4DA5-98B4-3F7DC991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2887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q0.5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A1A63-2920-491A-B52D-D7A7E257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43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Median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C5C39-ECC0-4E54-95EA-19FA7B01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8BDF8"/>
                </a:solidFill>
              </a:defRPr>
            </a:pPr>
            <a:r>
              <a:rPr sz="2550" b="1">
                <a:solidFill>
                  <a:srgbClr val="38BDF8"/>
                </a:solidFill>
              </a:rPr>
              <a:t>q0.1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83CD5-DDE7-4F95-A11C-BFCF10FF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unterer Rand</a:t>
            </a:r>
          </a:p>
        </p:txBody>
      </p:sp>
    </p:spTree>
    <p:extLst>
      <p:ext uri="{BB962C8B-B14F-4D97-AF65-F5344CB8AC3E}">
        <p14:creationId xmlns:p14="http://schemas.microsoft.com/office/powerpoint/2010/main" val="19336729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72577E-0B30-448D-982C-932F585F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Ablauf der Präsentation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5B43A-115E-49B0-897C-E689E5F4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4A128-356F-4E8F-A567-6EAF6D5A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Erst die Landkarte, dann sechs technische Vertiefungen.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AA6AA-25D4-44B7-97E2-AC39A507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Probabilistische Energiedatenvorhersage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1B6F9-3DCD-490A-A21B-2BAC6BC3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2DAC1-68F7-4618-802E-B74016C2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9886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C004F-523C-4DC7-9444-5A29B21C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02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5A5F"/>
                </a:solidFill>
              </a:defRPr>
            </a:pPr>
            <a:r>
              <a:rPr sz="1125" b="1">
                <a:solidFill>
                  <a:srgbClr val="FF5A5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07456-F2BB-4620-B09C-7841D264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90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Motivation und Ziel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3E591-D0DF-4890-897D-F022A2DD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90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Warum probabilistische PV-Prognosen fachlich sinnvoll sind.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2AE77-F89A-448E-94F2-D704081F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9886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8CF31-360B-4B2C-B8EE-62A52F8C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5A5F"/>
                </a:solidFill>
              </a:defRPr>
            </a:pPr>
            <a:r>
              <a:rPr sz="1125" b="1">
                <a:solidFill>
                  <a:srgbClr val="FF5A5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88707-6F90-461D-9F1E-1E520C15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14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Gesamtpipeline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1C3D7-0B9A-4599-865F-BD1A9205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146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Wie die Komponenten von Upload bis Dashboard ineinandergreifen.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B0682-3708-4605-9714-CD46DDC8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9886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FC9946-F8E7-4B0D-BAF4-68D42D0C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480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5A5F"/>
                </a:solidFill>
              </a:defRPr>
            </a:pPr>
            <a:r>
              <a:rPr sz="1125" b="1">
                <a:solidFill>
                  <a:srgbClr val="FF5A5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45178-1B26-4AF5-8D99-6266E8B3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Sechs Pipeline-Schritte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1623B3-277A-4652-899A-6129B3A2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38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Upload, EDA, Features, Split &amp; Scale, Modelle und Evaluation.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42C8E1-E1C4-4D15-8AE5-B3A37D3C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9886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935DF5-F266-4E73-A7C9-69501689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719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5A5F"/>
                </a:solidFill>
              </a:defRPr>
            </a:pPr>
            <a:r>
              <a:rPr sz="1125" b="1">
                <a:solidFill>
                  <a:srgbClr val="FF5A5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643A69-2D14-424F-AC3B-CB0121D3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62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Livedemo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FE4B69-4378-4CAF-BFCA-FA21995B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624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Das Streamlit-Dashboard zeigt Ergebnisse, Plots und Protokolle.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0E9A36-8364-43CC-AE50-653E3DEE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9886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5BFF78-C6CB-4BFA-AB78-6C71E625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958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5A5F"/>
                </a:solidFill>
              </a:defRPr>
            </a:pPr>
            <a:r>
              <a:rPr sz="1125" b="1">
                <a:solidFill>
                  <a:srgbClr val="FF5A5F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1966E4-E74F-407E-A731-E5E4723B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86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Einordnung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D3E08D-9E48-4025-B3A8-53622EA3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863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Was das Projekt kann, was es bewusst noch nicht leisten kann.</a:t>
            </a:r>
          </a:p>
        </p:txBody>
      </p:sp>
    </p:spTree>
    <p:extLst>
      <p:ext uri="{BB962C8B-B14F-4D97-AF65-F5344CB8AC3E}">
        <p14:creationId xmlns:p14="http://schemas.microsoft.com/office/powerpoint/2010/main" val="19650041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55A21E-7A25-4A53-8218-683EAA69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Motivation und Zielsetzung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93C36-B543-4C6C-94A4-2585522F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B368B-AF15-4601-A17C-77D1915C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PV-Erzeugung schwankt. Die Prognose soll deshalb Unsicherheit sichtbar machen.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0B076-2DA0-4649-B2A4-9FA78846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Probabilistische Energiedatenvorhersage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827FB-38CB-460B-9FE0-A0F41FD0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04F8D-D6E1-4642-AD92-2E608908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ED9FD-CACF-4DCD-8EF6-DCFD40D7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333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35B78-EC13-4EB7-A167-175CAD35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84D"/>
                </a:solidFill>
              </a:defRPr>
            </a:pPr>
            <a:r>
              <a:rPr sz="1350" b="1">
                <a:solidFill>
                  <a:srgbClr val="FFB84D"/>
                </a:solidFill>
              </a:rPr>
              <a:t>Ausgangsproblem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16469-740C-4415-BCEC-E80C4A0C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990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PV-Erzeugung hängt stark von Wetter, Tageszeit und Jahreszeit ab.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Eine reine Punktprognose zeigt keinen Risikobereich.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Abweichungen können kurzfristige Ausgleichsenergie nötig machen.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BB513-E4D5-49C1-946E-CC556A7D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573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500C6-F6D5-4AB0-9CF6-1274C0EF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57350"/>
            <a:ext cx="3333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FCEB3-2ADA-4D8B-B7DF-5990F66C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669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Ziel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37A30-80BB-4E67-9F72-99B3F0F4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66950"/>
            <a:ext cx="2990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Multivariate Zeitreihenvorhersage für PV-Erzeugung.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Statt eines Werts: 80%-Prognoseintervall über q0.1 bis q0.9.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Bewertung über Fehler-, Intervall- und Kalibrierungsmetriken.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A2DB3F-085F-4697-9A71-9EB076E0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573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F665D0-29C6-42CE-B382-20B2B771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57350"/>
            <a:ext cx="3333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8B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BCFAFC-8198-461D-B0FB-370999D0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669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8B5A"/>
                </a:solidFill>
              </a:defRPr>
            </a:pPr>
            <a:r>
              <a:rPr sz="1350" b="1">
                <a:solidFill>
                  <a:srgbClr val="228B5A"/>
                </a:solidFill>
              </a:rPr>
              <a:t>Demonstration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5AD618-4D70-4AC3-A723-B3EA8A57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66950"/>
            <a:ext cx="2990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LSTM und RNN werden mit gleicher Pipeline verglichen.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Feature Importance macht Einflussgrößen transparenter.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Dashboard bereitet Ergebnisse direkt für die Präsentation auf.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4480C8-DE86-4BF4-A8E9-BCAB98A8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00500"/>
            <a:ext cx="8763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B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4853B-07A1-4F75-956D-FCA32071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291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Kernidee: Das Modell soll nicht nur sagen, was wahrscheinlich passiert, sondern wie groß der plausible Bereich um diese Prognose ist.</a:t>
            </a:r>
          </a:p>
        </p:txBody>
      </p:sp>
    </p:spTree>
    <p:extLst>
      <p:ext uri="{BB962C8B-B14F-4D97-AF65-F5344CB8AC3E}">
        <p14:creationId xmlns:p14="http://schemas.microsoft.com/office/powerpoint/2010/main" val="19752283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15411D-2253-41F2-AEB5-2AA109F8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Gesamtpipeline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19C1C-C4C4-432E-9BE0-E6FD9A4C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2C88D-0A0C-49DE-87DB-67FC7176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Die Komponenten greifen als reproduzierbare Pipeline ineinander.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B04FB-1071-40CF-9171-73B94B79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Probabilistische Energiedatenvorhersage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348D4-63E2-49F6-AB33-854EE48B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A0EE1-FA73-4062-995F-BF1C8C02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600200" cy="1638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B9C3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68091-D5A2-4243-8BF7-FAEC18E8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234D6-06A5-4B11-9DA5-810BFB3E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84D"/>
                </a:solidFill>
              </a:defRPr>
            </a:pPr>
            <a:r>
              <a:rPr sz="1350" b="1">
                <a:solidFill>
                  <a:srgbClr val="FFB84D"/>
                </a:solidFill>
              </a:rPr>
              <a:t>Upload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EB795-9E9E-4B62-BB51-844EA936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SMARD-CSV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optional Wetter-CSV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7C4C83-176D-44D4-B076-EC3C42D1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479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AA6B2"/>
                </a:solidFill>
              </a:defRPr>
            </a:pPr>
            <a:r>
              <a:rPr sz="2100" b="1">
                <a:solidFill>
                  <a:srgbClr val="9AA6B2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AA8E8-17B8-443D-9A90-FFBA0656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95500"/>
            <a:ext cx="1600200" cy="1638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B9C3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16C22-ACBB-449C-822A-2A3FEB63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9550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02455-BB1E-4C23-8AFF-56E8DFFE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41F"/>
                </a:solidFill>
              </a:defRPr>
            </a:pPr>
            <a:r>
              <a:rPr sz="1350" b="1">
                <a:solidFill>
                  <a:srgbClr val="FF741F"/>
                </a:solidFill>
              </a:rPr>
              <a:t>EDA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08B78E-CEFC-4EE6-B352-E81905A4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76550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Bereinigung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Tagesprofile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Korrelationen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DA5A80-3821-4388-831A-5D12F992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479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AA6B2"/>
                </a:solidFill>
              </a:defRPr>
            </a:pPr>
            <a:r>
              <a:rPr sz="2100" b="1">
                <a:solidFill>
                  <a:srgbClr val="9AA6B2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885CB-25A7-4943-B1EA-1743CE6F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1600200" cy="1638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B9C3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9F480-E5D5-4204-9184-1BB99264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286C9-22FB-45F6-ADB9-3C9D20CA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A5F"/>
                </a:solidFill>
              </a:defRPr>
            </a:pPr>
            <a:r>
              <a:rPr sz="1350" b="1">
                <a:solidFill>
                  <a:srgbClr val="FF5A5F"/>
                </a:solidFill>
              </a:rPr>
              <a:t>Features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0CC1A8-5C77-4C26-82B1-D02246A4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76550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Zeitzyklen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PV-Historie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Kontextdaten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937D4E-D0C2-4F2A-9BCD-661A31DC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479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AA6B2"/>
                </a:solidFill>
              </a:defRPr>
            </a:pPr>
            <a:r>
              <a:rPr sz="2100" b="1">
                <a:solidFill>
                  <a:srgbClr val="9AA6B2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CF9B20-F3BA-47E3-8A7D-877674AD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1600200" cy="1638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B9C3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5FDAAD-094D-4856-A06B-C66F29EF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4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5F5218-F7BD-4E92-83C2-79EEEB90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4CF6"/>
                </a:solidFill>
              </a:defRPr>
            </a:pPr>
            <a:r>
              <a:rPr sz="1350" b="1">
                <a:solidFill>
                  <a:srgbClr val="8B4CF6"/>
                </a:solidFill>
              </a:rPr>
              <a:t>Split &amp; Scale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637A18-F702-457C-96EF-4D4233A4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chronologisch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Scaler nur Train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2B29C6-ADDF-49CA-9495-DE7639BD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479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AA6B2"/>
                </a:solidFill>
              </a:defRPr>
            </a:pPr>
            <a:r>
              <a:rPr sz="2100" b="1">
                <a:solidFill>
                  <a:srgbClr val="9AA6B2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876A00-F581-4F62-B99F-B440C911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1600200" cy="1638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B9C3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432885-E89E-42D6-936D-BAB4C579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71CC19-07D7-4FAF-B981-E2C15815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64E8"/>
                </a:solidFill>
              </a:defRPr>
            </a:pPr>
            <a:r>
              <a:rPr sz="1350" b="1">
                <a:solidFill>
                  <a:srgbClr val="2764E8"/>
                </a:solidFill>
              </a:rPr>
              <a:t>Modelle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C9F4C2-9D15-4984-BC4A-0C1B9905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76550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LSTM und RNN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q0.1, q0.5, q0.9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61407E-BC0B-404C-83C1-2C480744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479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AA6B2"/>
                </a:solidFill>
              </a:defRPr>
            </a:pPr>
            <a:r>
              <a:rPr sz="2100" b="1">
                <a:solidFill>
                  <a:srgbClr val="9AA6B2"/>
                </a:solidFill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53ECBA-9C99-44C8-A397-08C89DA1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95500"/>
            <a:ext cx="1600200" cy="1638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B9C3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59CD54-1ED1-492C-9703-F9908BB6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9550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94DFBC-59BD-4DF4-8069-94E1C3B5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574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</a:defRPr>
            </a:pPr>
            <a:r>
              <a:rPr sz="1350" b="1">
                <a:solidFill>
                  <a:srgbClr val="38BDF8"/>
                </a:solidFill>
              </a:rPr>
              <a:t>Evaluation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0737BC-5960-4CFB-82BB-0D0EC441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76550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PICP, RMSE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Winkler, Pinball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07137A-EBE3-46B4-A8B3-182A702F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781550"/>
            <a:ext cx="65151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0B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B330EF-95AB-4996-952F-ADA6D628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292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Streamlit-Dashboard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F2C903-3A79-4ACB-BB3F-E21F8C46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33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macht Metriken, Plots, Protokolle und regelbasierte Interpretation direkt nutzbar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79EAF9-5AF8-4F5B-B3EC-E792A66F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6740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Die folgenden sechs Folien zoomen jeweils in einen dieser Pipeline-Schritte hinein.</a:t>
            </a:r>
          </a:p>
        </p:txBody>
      </p:sp>
    </p:spTree>
    <p:extLst>
      <p:ext uri="{BB962C8B-B14F-4D97-AF65-F5344CB8AC3E}">
        <p14:creationId xmlns:p14="http://schemas.microsoft.com/office/powerpoint/2010/main" val="18712455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05FD7F-4A3D-4943-A080-7C266E22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1. Upload: Die Datenbasis wird festgelegt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CFAC2-1363-4BE9-B332-C269836D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986EC-896F-42A5-93F4-46E401D7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SMARD liefert die historischen Energiemarktdaten, die Pipeline verarbeitet sie lokal.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8F764-ECE7-4700-ACE7-E5E8CBD2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Probabilistische Energiedatenvorhersage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F5303-8A79-46FE-8E5C-6EEFD656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FAFE3-50BB-49CC-89AE-70637694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6D582-79FB-4EA1-B67F-59116E54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3333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51654-F101-4992-8B46-3816A42B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84D"/>
                </a:solidFill>
              </a:defRPr>
            </a:pPr>
            <a:r>
              <a:rPr sz="1350" b="1">
                <a:solidFill>
                  <a:srgbClr val="FFB84D"/>
                </a:solidFill>
              </a:rPr>
              <a:t>Was ist SMARD?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14A0D-B100-4777-AF98-3374952F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2990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SMARD ist die Marktdatenplattform der Bundesnetzagentur.</a:t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Sie stellt Zeitreihen zu Stromerzeugung, Verbrauch, Markt und Systemdaten bereit.</a:t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Für unser Projekt ist vor allem die historische PV-Erzeugung relevant.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1EDA4-C224-4D95-8DA3-DD62D170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3830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090C7-A709-44D1-A09F-04D317A4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38300"/>
            <a:ext cx="3333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DF83E-5C1A-44DB-AFAC-3BD9E933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8478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Was wird hochgeladen?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11856A-68C4-4458-A550-17C60D64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47900"/>
            <a:ext cx="2990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Pflicht: SMARD-CSV mit Zeitstempel und Erzeugungsspalten.</a:t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Optional: Wetter-CSV mit numerischen Wettervariablen.</a:t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Die App akzeptiert Drag-and-drop oder Dateiauswahl.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F1DE0E-D6E5-43E0-B30D-5F24CB94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3830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E0E50B-E100-472E-BAE4-EB9613E3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38300"/>
            <a:ext cx="3333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8B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0BC70-4012-40EC-ADEF-C1D29F65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478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8B5A"/>
                </a:solidFill>
              </a:defRPr>
            </a:pPr>
            <a:r>
              <a:rPr sz="1350" b="1">
                <a:solidFill>
                  <a:srgbClr val="228B5A"/>
                </a:solidFill>
              </a:rPr>
              <a:t>Warum ist das relevant?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6E66F-755B-4CB6-A36D-83BE539C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47900"/>
            <a:ext cx="2990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PV ist Zielgröße und zugleich historische Eingabe.</a:t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Wind und Erdgas dienen als Kontext für Energiesystemzustände.</a:t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Wetterdaten wären der größte fachliche Qualitätssprung.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D3E8CA-4DAB-4B85-92BB-632ABB66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100584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B617E7-0417-4E88-82D3-4D1145E0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6720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Upload → lokale Verarbeitung → Output-Ordner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577C89-0D7A-4FC8-B959-8D01C0E8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863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F5"/>
                </a:solidFill>
              </a:defRPr>
            </a:pPr>
            <a:r>
              <a:rPr sz="1275" b="0">
                <a:solidFill>
                  <a:srgbClr val="DDE8F5"/>
                </a:solidFill>
              </a:rPr>
              <a:t>Alle Ergebnisse bleiben reproduzierbar im Projekt: bereinigte CSVs, Modelle, Scaler, Plots, Metriken und Protokolle.</a:t>
            </a:r>
          </a:p>
        </p:txBody>
      </p:sp>
    </p:spTree>
    <p:extLst>
      <p:ext uri="{BB962C8B-B14F-4D97-AF65-F5344CB8AC3E}">
        <p14:creationId xmlns:p14="http://schemas.microsoft.com/office/powerpoint/2010/main" val="16488988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BB017B-C4B6-4A5C-B243-8D8A557C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2. EDA: Die Zeitreihe wird fachlich geprüft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2EA14-47CF-4902-9841-8450E8CC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31AB4-6B4D-4869-8BC7-3BEF6151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Die explorative Analyse zeigt Datenqualität, Tagesmuster und erste Zusammenhänge.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801D2-DE11-4F05-9D2B-D4EF8EE8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Probabilistische Energiedatenvorhersage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3E1F4-C6F5-45D8-850B-24CE6093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DE119-9535-498D-AD0E-35F71040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495300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f4ec7f364462b"/>
          <a:stretch xmlns:a="http://schemas.openxmlformats.org/drawingml/2006/main"/>
        </p:blipFill>
        <p:spPr>
          <a:xfrm xmlns:a="http://schemas.openxmlformats.org/drawingml/2006/main">
            <a:off x="628650" y="1706880"/>
            <a:ext cx="4800600" cy="1920240"/>
          </a:xfrm>
          <a:prstGeom xmlns:a="http://schemas.openxmlformats.org/drawingml/2006/main" prst="roundRect">
            <a:avLst>
              <a:gd name="adj" fmla="val 576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FA25F-7AC2-46E2-9B13-E45C49F8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4953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7ed8096794a0b"/>
          <a:stretch xmlns:a="http://schemas.openxmlformats.org/drawingml/2006/main"/>
        </p:blipFill>
        <p:spPr>
          <a:xfrm xmlns:a="http://schemas.openxmlformats.org/drawingml/2006/main">
            <a:off x="2000250" y="4133850"/>
            <a:ext cx="2057400" cy="1543050"/>
          </a:xfrm>
          <a:prstGeom xmlns:a="http://schemas.openxmlformats.org/drawingml/2006/main" prst="roundRect">
            <a:avLst>
              <a:gd name="adj" fmla="val 740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115BD-522F-4723-A572-69FE41AC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00200"/>
            <a:ext cx="2476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7F2E8-F7CF-4D6C-8E6E-D2215918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0020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8E5F8-B6FF-494F-BC33-EE7E3CA7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097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84D"/>
                </a:solidFill>
              </a:defRPr>
            </a:pPr>
            <a:r>
              <a:rPr sz="1350" b="1">
                <a:solidFill>
                  <a:srgbClr val="FFB84D"/>
                </a:solidFill>
              </a:rPr>
              <a:t>Bereinigung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FCFEA-9DDC-4FE8-B321-8B576979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098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Deutsche Zahlenformate werden numerisch.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Zeitstempel werden geparst und sortiert.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Leere oder unvollständige Endbereiche werden gekappt.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D4652-CAEF-4113-8023-1C0A7494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00200"/>
            <a:ext cx="2476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F90B77-F2EB-459C-BBAB-C6329DF7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0020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18254-3CA8-4493-B43B-F437C3E1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097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Auflösung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FC6546-7603-48F5-841C-F033CCC1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098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Die Pipeline erkennt den Zeitabstand automatisch.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Daraus entsteht immer ein 24h-Fenster.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Beispiel: 60 Minuten → Fenstergröße 24.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6B5E3C-E8DE-4AD9-8206-9374DF2A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00400"/>
            <a:ext cx="2476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1472F9-A889-48E5-81E3-84B848CC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0040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8B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0804EB-BA19-4A39-84A5-E662768B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099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8B5A"/>
                </a:solidFill>
              </a:defRPr>
            </a:pPr>
            <a:r>
              <a:rPr sz="1350" b="1">
                <a:solidFill>
                  <a:srgbClr val="228B5A"/>
                </a:solidFill>
              </a:rPr>
              <a:t>Tagesprofil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1C7DC5-CE70-4297-BEB4-901FFB89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100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PV folgt einem klaren Tagesrhythmus.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Wind verhält sich weniger strikt zyklisch.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Das begründet explizite Zeitfeatures.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E49410-8684-4E1F-9DF0-03B38FE1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00400"/>
            <a:ext cx="2476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7242EC-1057-4B32-B637-22EEAB4B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0040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4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6E08FD-F324-4293-A6A0-9E3FB833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099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4CF6"/>
                </a:solidFill>
              </a:defRPr>
            </a:pPr>
            <a:r>
              <a:rPr sz="1350" b="1">
                <a:solidFill>
                  <a:srgbClr val="8B4CF6"/>
                </a:solidFill>
              </a:rPr>
              <a:t>Korrelationen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F2A944-205D-44DE-B7D1-25FDB878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100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Heatmap als Plausibilitätscheck.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Sie ersetzt keine Kausalität, zeigt aber Muster.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Auffälligkeiten werden sichtbar.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BE0358-B89F-49E8-BE22-4E8ACD8D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530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355F"/>
                </a:solidFill>
              </a:defRPr>
            </a:pPr>
            <a:r>
              <a:rPr sz="1500" b="1">
                <a:solidFill>
                  <a:srgbClr val="0B355F"/>
                </a:solidFill>
              </a:rPr>
              <a:t>EDA ist hier kein Selbstzweck: Sie entscheidet, ob die Daten überhaupt sinnvoll trainierbar sind.</a:t>
            </a:r>
          </a:p>
        </p:txBody>
      </p:sp>
    </p:spTree>
    <p:extLst>
      <p:ext uri="{BB962C8B-B14F-4D97-AF65-F5344CB8AC3E}">
        <p14:creationId xmlns:p14="http://schemas.microsoft.com/office/powerpoint/2010/main" val="13503363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70C49E-056F-4B6A-A5E6-DBCF596C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3. Features: Zeitlogik wird explizit lernbar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61C15-5554-48CE-80A4-0B2A21C9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8BBEF-CF06-4F56-AF8C-093CF84B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Aus Rohdaten entstehen Modellvariablen, die Rhythmus und Kontext abbilden.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4B497-ED78-40AD-BBDB-FCAB5E4B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Probabilistische Energiedatenvorhersage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92146-1762-42B8-BEB4-C84D2743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2DC87-69F9-421F-A5A7-C38142F1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409575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98b733e184a72"/>
          <a:stretch xmlns:a="http://schemas.openxmlformats.org/drawingml/2006/main"/>
        </p:blipFill>
        <p:spPr>
          <a:xfrm xmlns:a="http://schemas.openxmlformats.org/drawingml/2006/main">
            <a:off x="746760" y="1638300"/>
            <a:ext cx="3707130" cy="2647950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44670-27FB-454D-90B6-C6B55EF4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4095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3bca88ae9425f"/>
          <a:stretch xmlns:a="http://schemas.openxmlformats.org/drawingml/2006/main"/>
        </p:blipFill>
        <p:spPr>
          <a:xfrm xmlns:a="http://schemas.openxmlformats.org/drawingml/2006/main">
            <a:off x="1266825" y="4762500"/>
            <a:ext cx="2667000" cy="1066800"/>
          </a:xfrm>
          <a:prstGeom xmlns:a="http://schemas.openxmlformats.org/drawingml/2006/main" prst="roundRect">
            <a:avLst>
              <a:gd name="adj" fmla="val 1071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F7716-2235-4D66-B7E7-6B1F02D6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62100"/>
            <a:ext cx="29337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7BD81-09D1-4E2E-9735-95360D42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62100"/>
            <a:ext cx="2933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DC85CD-9AE1-497C-B4B9-9FFA28ED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716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</a:defRPr>
            </a:pPr>
            <a:r>
              <a:rPr sz="1350" b="1">
                <a:solidFill>
                  <a:srgbClr val="38BDF8"/>
                </a:solidFill>
              </a:rPr>
              <a:t>Welche Features?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6ECC62-6DC3-4A32-95DA-CE6442B6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7170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PV-Historie als wichtigste Ausgangsinformation.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Zeitfeatures: Stunde, Wochentag, Wochenende.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Kontext: Wind Onshore und Erdgas.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Optionale Wetterspalten werden automatisch ergänzt.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E2A3F-EF94-4C84-A762-A410FB21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62100"/>
            <a:ext cx="29337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E7129-D86A-4EBF-9CA8-7F5BFB74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62100"/>
            <a:ext cx="2933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4A3748-135E-4BD9-8BCA-96FAB997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716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Warum zyklisch?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C584B8-7CE3-44C8-A255-316AA1C0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Uhrzeit und Wochentag sind Kreise, keine linearen Zahlen.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23 Uhr und 0 Uhr liegen direkt nebeneinander.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Sinus/Cosinus kodieren diese Nachbarschaft.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3936BC-6995-415C-9BCD-0C1BAD05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562350"/>
            <a:ext cx="55626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C05710-3E10-45A6-A348-03DA4A58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67150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hour_sin / hour_cos · weekday_sin / weekday_cos · is_weekend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E945DC-69E6-4864-B176-92793165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292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Die Features verbinden historische PV-Erzeugung, zeitliche Struktur und weitere Energiesystemgrößen.</a:t>
            </a:r>
          </a:p>
        </p:txBody>
      </p:sp>
    </p:spTree>
    <p:extLst>
      <p:ext uri="{BB962C8B-B14F-4D97-AF65-F5344CB8AC3E}">
        <p14:creationId xmlns:p14="http://schemas.microsoft.com/office/powerpoint/2010/main" val="10024912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DECF00-CD6C-48F9-9A21-C5421C8F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4. Split &amp; Scale: Datenleckage wird verhindert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A853A-86D3-4FB6-82FE-080E8E06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62217-4BF1-4936-8CEF-1208D8FE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Erst zeitlich trennen, dann Scaler nur auf Trainingsdaten fitten.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FCE47-19D7-4780-8207-47D5C11F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Probabilistische Energiedatenvorhersage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031C4-0E71-44AF-AFD5-D962BB0B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B5917-9CBB-4E46-ADD7-874D5CAB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5334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28B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DD265-090C-4D74-8D57-39F110F4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Train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73220-E05A-4766-B4BB-FC4928F7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173 Sequenzen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75937-27DB-47F6-9E1A-DA813DCB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90750"/>
            <a:ext cx="1714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A2394-E7C9-48AF-8420-91F5F135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622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Validierung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D6117-067C-4A3A-AB5B-894B878B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051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568A5-C327-4ED2-A496-025FE5FE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90750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99E62-507C-4492-A478-19B5A617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1CF6A-3CCA-412C-9D4B-FE917D15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051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48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2115E8-81A7-41DD-A1C2-9FBCAC18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chronologische Reihenfolge bleibt erhalten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CD7866-B594-47D7-AB98-7972A0FB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300037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21DAB-D38C-4010-9571-247CDB4E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30003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8B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FC13EA-344B-4BD1-9E26-068DE141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8B5A"/>
                </a:solidFill>
              </a:defRPr>
            </a:pPr>
            <a:r>
              <a:rPr sz="1350" b="1">
                <a:solidFill>
                  <a:srgbClr val="228B5A"/>
                </a:solidFill>
              </a:rPr>
              <a:t>Warum so?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E59D5B-151D-42C7-BB0F-21E2713C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2657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Zeitreihen dürfen nicht zufällig gemischt werden.</a:t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Sonst würde zukünftige Information indirekt ins Training gelangen.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370ED3-3AE9-4ADA-A26C-3D0C4ADC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00500"/>
            <a:ext cx="300037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FE936F-8F3A-4751-A3C7-8B9D695B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00500"/>
            <a:ext cx="30003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887447-D341-4757-9D77-A8E89F78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100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Wie genau?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B4CF40-392E-4793-BC17-1D9FCFA2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10100"/>
            <a:ext cx="2657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MinMaxScaler wird nur auf dem Trainingsbereich gefittet.</a:t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Validierung und Test werden danach nur transformiert.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9B7A5F-9F0B-4EF8-A3BD-40258F88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00037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6F2B21-B13C-44C3-A14D-4F9EB23E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0003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4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B7CB23-F16E-41E4-B4EC-10F033E8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100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4CF6"/>
                </a:solidFill>
              </a:defRPr>
            </a:pPr>
            <a:r>
              <a:rPr sz="1350" b="1">
                <a:solidFill>
                  <a:srgbClr val="8B4CF6"/>
                </a:solidFill>
              </a:rPr>
              <a:t>Fensterlogik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6DD461-06CC-478F-82C8-E0A340D9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10100"/>
            <a:ext cx="2657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Jede Eingabe besteht aus 24 Stunden Vergangenheit.</a:t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Das Ziel ist der nächste PV-Wert nach diesem Fenster.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9F4B19-EE86-4277-A679-7C1C25CC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657850"/>
            <a:ext cx="472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0E9725-A924-446E-9D00-19EFA73A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24525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scaler.fit(train)  →  transform(train, validation, test)</a:t>
            </a:r>
          </a:p>
        </p:txBody>
      </p:sp>
    </p:spTree>
    <p:extLst>
      <p:ext uri="{BB962C8B-B14F-4D97-AF65-F5344CB8AC3E}">
        <p14:creationId xmlns:p14="http://schemas.microsoft.com/office/powerpoint/2010/main" val="3502226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DA495A-97A4-4436-B661-334B1AF0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5. Modelle: Drei Quantile statt einer Punktprognose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45561-A844-4D9D-8420-A7D76108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805C4-2749-4F3B-8C1C-C1BABB64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LSTM und RNN werden fair mit gleicher Datenbasis, gleichem Loss und gleichen Quantilen verglichen.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AE981-2C6B-4032-9EA8-2FD6CD4A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Probabilistische Energiedatenvorhersage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EC712-26B7-4062-96BD-5AFAE54C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E2730-F6C0-4311-B7F9-546CE4F5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0670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C96AF-6FC5-445D-80F2-4F674195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067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8B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1FA92-5B21-4E7D-BB5F-5C24CFF5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8B5A"/>
                </a:solidFill>
              </a:defRPr>
            </a:pPr>
            <a:r>
              <a:rPr sz="1350" b="1">
                <a:solidFill>
                  <a:srgbClr val="228B5A"/>
                </a:solidFill>
              </a:rPr>
              <a:t>RNN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2F2C1-626B-498F-9231-A4DAEAF4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27241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Rekurrentes neuronales Netz mit verborgenem Zustand.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Liest Sequenzen Schritt für Schritt.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Einfacher Aufbau, weniger Parameter.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Guter Vergleichspunkt für das komplexere LSTM.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1CC3D-72A5-4D7E-BB5C-504D4B57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30670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52406-FA33-4A2F-9CCE-0FD19623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3067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F1E53-6A34-40F9-B72A-C912E617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288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LSTM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A54FBE-D568-40F6-B017-EAB9E704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28850"/>
            <a:ext cx="27241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Erweiterte rekurrente Architektur mit Gates.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Soll längerfristige Abhängigkeiten stabiler speichern.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Geeignet für Zeitreihen mit verzögerten Mustern.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Hier: gleiche Pipeline wie RNN.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300ED9-A838-4D1F-877C-A4ED2569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19250"/>
            <a:ext cx="37338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106910-64BC-4E78-A67D-AB475BC5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19250"/>
            <a:ext cx="37338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4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0DEFF4-EE25-489F-93AF-C5537D14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288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4CF6"/>
                </a:solidFill>
              </a:defRPr>
            </a:pPr>
            <a:r>
              <a:rPr sz="1350" b="1">
                <a:solidFill>
                  <a:srgbClr val="8B4CF6"/>
                </a:solidFill>
              </a:rPr>
              <a:t>Probabilistischer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517A08-4920-46E2-829D-D6F1E189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28850"/>
            <a:ext cx="33909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Letzte Sequenzrepräsentation geht in eine lineare Ausgabeschicht.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Ausgabe sind drei Werte: q0.1, q0.5 und q0.9.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q0.1 bis q0.9 bilden das zentrale 80%-Prognoseintervall.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Rohquantile werden für die Ausgabe monoton sortiert.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64533-1507-4873-8CDD-8933AE85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7625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73dbb37e44e3c"/>
          <a:stretch xmlns:a="http://schemas.openxmlformats.org/drawingml/2006/main"/>
        </p:blipFill>
        <p:spPr>
          <a:xfrm xmlns:a="http://schemas.openxmlformats.org/drawingml/2006/main">
            <a:off x="1847850" y="4248150"/>
            <a:ext cx="2590800" cy="1295400"/>
          </a:xfrm>
          <a:prstGeom xmlns:a="http://schemas.openxmlformats.org/drawingml/2006/main" prst="roundRect">
            <a:avLst>
              <a:gd name="adj" fmla="val 8824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3A1256-0552-4CEB-924A-F3452131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71950"/>
            <a:ext cx="47625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e6f0999a0439d"/>
          <a:stretch xmlns:a="http://schemas.openxmlformats.org/drawingml/2006/main"/>
        </p:blipFill>
        <p:spPr>
          <a:xfrm xmlns:a="http://schemas.openxmlformats.org/drawingml/2006/main">
            <a:off x="7200900" y="4248150"/>
            <a:ext cx="2590800" cy="1295400"/>
          </a:xfrm>
          <a:prstGeom xmlns:a="http://schemas.openxmlformats.org/drawingml/2006/main" prst="roundRect">
            <a:avLst>
              <a:gd name="adj" fmla="val 8824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807614-38B1-4708-80A7-8571F087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436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355F"/>
                </a:solidFill>
              </a:defRPr>
            </a:pPr>
            <a:r>
              <a:rPr sz="1275" b="1">
                <a:solidFill>
                  <a:srgbClr val="0B355F"/>
                </a:solidFill>
              </a:rPr>
              <a:t>Trainingsziel: Pinball Loss + Crossing Penalty · Optimizer: Adam · Early Stopping über Validierungsverlust</a:t>
            </a:r>
          </a:p>
        </p:txBody>
      </p:sp>
    </p:spTree>
    <p:extLst>
      <p:ext uri="{BB962C8B-B14F-4D97-AF65-F5344CB8AC3E}">
        <p14:creationId xmlns:p14="http://schemas.microsoft.com/office/powerpoint/2010/main" val="2099679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E2261A-8EEE-42BC-B694-3092100E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6. Evaluation: Fehler und Unsicherheit gehören zusammen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57FF3-E6DD-4A65-BC12-03B8F65C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AD1DE-FE91-4478-B460-19977760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Ein Intervall ist nur gut, wenn Abdeckung, Breite und Fehler gemeinsam plausibel sind.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9BE7F-9D9F-40AC-A118-BEAF6225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Probabilistische Energiedatenvorhersage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362A3-D622-49DB-8A53-11368AA1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2D455-5923-4484-A9D7-D257B854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57150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2109f20b04083"/>
          <a:stretch xmlns:a="http://schemas.openxmlformats.org/drawingml/2006/main"/>
        </p:blipFill>
        <p:spPr>
          <a:xfrm xmlns:a="http://schemas.openxmlformats.org/drawingml/2006/main">
            <a:off x="609600" y="1740535"/>
            <a:ext cx="5562600" cy="2595880"/>
          </a:xfrm>
          <a:prstGeom xmlns:a="http://schemas.openxmlformats.org/drawingml/2006/main" prst="roundRect">
            <a:avLst>
              <a:gd name="adj" fmla="val 397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B59BB-FFEB-4171-AEF9-E8ED2A18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00200"/>
            <a:ext cx="13525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53957-0AEA-48DC-A867-5F5D68BE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752600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28B5A"/>
                </a:solidFill>
              </a:defRPr>
            </a:pPr>
            <a:r>
              <a:rPr sz="2175" b="1">
                <a:solidFill>
                  <a:srgbClr val="228B5A"/>
                </a:solidFill>
              </a:rPr>
              <a:t>89,6 %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F1C3CB-CEA5-494E-AC99-48660BDB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526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RNN PICP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09F97-A2A4-48E8-A497-941E1C36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00200"/>
            <a:ext cx="13525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00E71-718D-4C1F-8A5E-4C2D7DE0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52600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28B5A"/>
                </a:solidFill>
              </a:defRPr>
            </a:pPr>
            <a:r>
              <a:rPr sz="2175" b="1">
                <a:solidFill>
                  <a:srgbClr val="228B5A"/>
                </a:solidFill>
              </a:rPr>
              <a:t>0,0 %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B6979-CE4D-4A9F-BDE4-F820D05A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526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Crossing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F16E3-4807-45D9-B820-6AC2035E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00200"/>
            <a:ext cx="13525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CF3D3D-E455-4E1B-8670-A35A2D50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752600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80ED"/>
                </a:solidFill>
              </a:defRPr>
            </a:pPr>
            <a:r>
              <a:rPr sz="2175" b="1">
                <a:solidFill>
                  <a:srgbClr val="2F80ED"/>
                </a:solidFill>
              </a:rPr>
              <a:t>1.804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3E75C6-64C5-46D6-8216-0F4EAD9E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526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RMSE MWh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E0CB7-3B62-4D43-8A92-D0F2622D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13525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6F2115-891C-4FF7-82A0-BBDBE1A6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33700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5A5F"/>
                </a:solidFill>
              </a:defRPr>
            </a:pPr>
            <a:r>
              <a:rPr sz="2175" b="1">
                <a:solidFill>
                  <a:srgbClr val="FF5A5F"/>
                </a:solidFill>
              </a:rPr>
              <a:t>58,3 %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EE9C3-5995-4661-B221-8F8D11FC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LSTM PICP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BF3AF7-EF44-4B26-92F2-53E31CE2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81300"/>
            <a:ext cx="13525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0A800A-5F8B-4FF5-AFA2-EC4379C9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33700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B84D"/>
                </a:solidFill>
              </a:defRPr>
            </a:pPr>
            <a:r>
              <a:rPr sz="2175" b="1">
                <a:solidFill>
                  <a:srgbClr val="FFB84D"/>
                </a:solidFill>
              </a:rPr>
              <a:t>4,17 %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9619EE-C570-4125-9718-D91DBA8E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337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Roh-Crossing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BAAB9D-819B-4A70-B61E-90A9F7D0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81300"/>
            <a:ext cx="13525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875E18-AF32-4CE1-B147-11DE6D85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933700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5A5F"/>
                </a:solidFill>
              </a:defRPr>
            </a:pPr>
            <a:r>
              <a:rPr sz="2175" b="1">
                <a:solidFill>
                  <a:srgbClr val="FF5A5F"/>
                </a:solidFill>
              </a:rPr>
              <a:t>4.906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D06223-E7ED-4F05-90AE-160E0ACE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3337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RMSE MWh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D150B0-7EE5-42F4-9AB0-CAE94568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57650"/>
            <a:ext cx="4476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D5E2EB-249C-4FF3-AC9D-5D190F8E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57650"/>
            <a:ext cx="4476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57DB09-7D78-41DA-8EA4-1A17B4DB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6720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</a:defRPr>
            </a:pPr>
            <a:r>
              <a:rPr sz="1350" b="1">
                <a:solidFill>
                  <a:srgbClr val="38BDF8"/>
                </a:solidFill>
              </a:rPr>
              <a:t>Wie wird bewertet?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86DDE6-E6FD-498F-BA38-CE2EBA25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67250"/>
            <a:ext cx="4133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PICP: Liegen echte Werte im 80%-Intervall?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Intervallbreite: Wie konservativ ist der Korridor?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Pinball Loss: Sind die Quantile selbst gut geschätzt?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Winkler Score: Bestraft breite und verfehlte Intervalle.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B40D57-5F0E-4B93-BF87-50B1F522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355F"/>
                </a:solidFill>
              </a:defRPr>
            </a:pPr>
            <a:r>
              <a:rPr sz="1350" b="1">
                <a:solidFill>
                  <a:srgbClr val="0B355F"/>
                </a:solidFill>
              </a:rPr>
              <a:t>Wichtig: Ein niedriger RMSE allein reicht nicht. Bei probabilistischen Prognosen zählt auch, ob die Unsicherheit realistisch kalibriert ist.</a:t>
            </a:r>
          </a:p>
        </p:txBody>
      </p:sp>
    </p:spTree>
    <p:extLst>
      <p:ext uri="{BB962C8B-B14F-4D97-AF65-F5344CB8AC3E}">
        <p14:creationId xmlns:p14="http://schemas.microsoft.com/office/powerpoint/2010/main" val="775211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A6DB6B-BC54-4824-A66E-E3FD9EF1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Livedemo: Dashboard statt Ergebnisordner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826F7-28E4-4770-9FAA-EBB67A86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3CDBA-6C96-472C-BAFF-F52DF09F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Nach der Evaluation wird die Pipeline praktisch gezeigt.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768AB-6B6D-4A75-AE02-D80B2015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Probabilistische Energiedatenvorhersage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E2D37-D515-4FE2-B61A-8A73BF96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B9591-20D3-4713-9B88-8203C9A9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30099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A27DB-E3E1-4127-8E01-92557F12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3009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D5C39-26BB-42AD-BD5F-A8EB283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Was ich zeige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FDD48-BF6E-405A-BB8E-86F3056D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CSV hochladen und Pipeline starten.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Ergebnisse direkt im Dashboard öffnen.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Prognosen, EDA-Plots, Diagnose und Dateien ansehen.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F2DE2-248D-49C6-8825-F72AA097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76400"/>
            <a:ext cx="30099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500E7-F9E4-4111-91DC-6E260A31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76400"/>
            <a:ext cx="3009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8B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D7A79-0CC4-449A-B1CF-EAD46A83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85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8B5A"/>
                </a:solidFill>
              </a:defRPr>
            </a:pPr>
            <a:r>
              <a:rPr sz="1350" b="1">
                <a:solidFill>
                  <a:srgbClr val="228B5A"/>
                </a:solidFill>
              </a:rPr>
              <a:t>Warum es hilft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00F6F2-4C26-439A-96D3-9F0615FC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Die Outputs müssen nicht einzeln im Ordner gesucht werden.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Metriken und Plots sind strukturiert zusammengeführt.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Regelbasierte Interpretation ordnet Zahlen vorsichtig ein.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799FC2-B3D2-4BB0-BD22-08CC376C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76400"/>
            <a:ext cx="30099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1DDBB-C9F3-49FB-9F7D-6B250A4D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76400"/>
            <a:ext cx="3009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C240D-70E1-47AD-BCBD-4C85AEE1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85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84D"/>
                </a:solidFill>
              </a:defRPr>
            </a:pPr>
            <a:r>
              <a:rPr sz="1350" b="1">
                <a:solidFill>
                  <a:srgbClr val="FFB84D"/>
                </a:solidFill>
              </a:rPr>
              <a:t>Was bewusst fehlt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7E424-00FD-4EB5-8BC9-67D3406D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Keine KI-Analyse mehr im Projekt.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Die Interpretation ist nachvollziehbar regelbasiert.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Damit bleibt die Bewertung reproduzierbar und erklärbar.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36B8AA-3127-467A-BC0C-B2617151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24350"/>
            <a:ext cx="91059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B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99F7D-C873-4AE3-BD6A-0D562B6E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48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Demo-Übergang: Von der technischen Pipeline zur bedienbaren Anwendung.</a:t>
            </a:r>
          </a:p>
        </p:txBody>
      </p:sp>
    </p:spTree>
    <p:extLst>
      <p:ext uri="{BB962C8B-B14F-4D97-AF65-F5344CB8AC3E}">
        <p14:creationId xmlns:p14="http://schemas.microsoft.com/office/powerpoint/2010/main" val="6181026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4D9B43-2C61-48B6-BE6F-D3676D54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Was man kritisch sehen muss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2DC17-5A1E-4AA7-A61C-1F483FB3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0B7B2-523E-4122-81C6-3EE6EB7E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Das Projekt ist ein sauberer Prototyp, aber noch kein produktives Prognosesystem.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FB237-94A5-4112-8037-665CA33E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Probabilistische Energiedatenvorhersage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EA55A-5CFC-4049-B1CF-D176FBEB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6601C-69E4-4FF2-9793-B931BD1A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48196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FDCCC-FBD9-4BC4-B177-1B98BA3E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48196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0F627-661C-4C21-A591-310D0B3E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288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84D"/>
                </a:solidFill>
              </a:defRPr>
            </a:pPr>
            <a:r>
              <a:rPr sz="1350" b="1">
                <a:solidFill>
                  <a:srgbClr val="FFB84D"/>
                </a:solidFill>
              </a:rPr>
              <a:t>Keine echte Wetterprognose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CE88F-56D1-4D43-A829-A442E620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Ohne Globalstrahlung, Bewölkung und Temperatur bleibt ein zentraler PV-Treiber außen vor.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FBE05-6D37-45CE-9047-512BEF03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19250"/>
            <a:ext cx="48196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AD389-C0CD-4FFB-B28E-7FE19A39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19250"/>
            <a:ext cx="48196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2B40E-EB35-48E0-B3E8-F264949B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288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A5F"/>
                </a:solidFill>
              </a:defRPr>
            </a:pPr>
            <a:r>
              <a:rPr sz="1350" b="1">
                <a:solidFill>
                  <a:srgbClr val="FF5A5F"/>
                </a:solidFill>
              </a:rPr>
              <a:t>Kurzer Zeitraum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76AD5-4CF5-4093-B140-F32EA787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288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Die Beispielergebnisse basieren auf begrenzten historischen Daten und sind kein Langzeitnachweis.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B7714-928C-4CCF-A20A-0FAB37FE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48196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49282-374F-4EE1-A18A-E05EE44E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48196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26560-1AFB-4F89-ADD5-78049AE0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Kein kausaler Erkläranspruch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218C41-44D8-40AD-9565-245364F7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Feature Importance zeigt Sensitivität, aber keine physikalische Ursache.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FC1EAD-B5B5-4609-A231-3E3F04C5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38450"/>
            <a:ext cx="48196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DA2149-D6F6-4411-A31C-01C7FB9A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38450"/>
            <a:ext cx="48196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4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FBC04A-874C-40FD-8F7B-ADA401B8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4CF6"/>
                </a:solidFill>
              </a:defRPr>
            </a:pPr>
            <a:r>
              <a:rPr sz="1350" b="1">
                <a:solidFill>
                  <a:srgbClr val="8B4CF6"/>
                </a:solidFill>
              </a:rPr>
              <a:t>Architekturen bewusst einfach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2F04D5-798D-483E-872F-248551F6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48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TFT, DeepAR oder Hybridmodelle wurden nicht implementiert.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BE05C4-1C2A-40C5-9943-08F6AA61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48196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4AA1DE-A8CC-44E2-9E1B-BDE490E3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48196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8B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0149AE-7274-4B4F-BFB9-61AD24AD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8B5A"/>
                </a:solidFill>
              </a:defRPr>
            </a:pPr>
            <a:r>
              <a:rPr sz="1350" b="1">
                <a:solidFill>
                  <a:srgbClr val="228B5A"/>
                </a:solidFill>
              </a:rPr>
              <a:t>Intervallqualität abhängig vom Datensatz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A0D79B-B259-4209-83AD-D27B3A06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PICP, Breite und Winkler Score können sich bei anderen Zeiträumen deutlich verändern.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D56CC4-E282-4044-B776-02742EAB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57650"/>
            <a:ext cx="48196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C7D519-522B-4603-9AB0-A1F9FA7F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57650"/>
            <a:ext cx="48196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42126B-AA4F-48BA-ACFC-6EC701D5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672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355F"/>
                </a:solidFill>
              </a:defRPr>
            </a:pPr>
            <a:r>
              <a:rPr sz="1350" b="1">
                <a:solidFill>
                  <a:srgbClr val="0B355F"/>
                </a:solidFill>
              </a:rPr>
              <a:t>Dashboard ist lokal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F95EAB-BB7E-475F-9B78-1C5C3013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672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Die Anwendung ist für Demonstration und Lehre gebaut, nicht für produktiven Netzbetrieb.</a:t>
            </a:r>
          </a:p>
        </p:txBody>
      </p:sp>
    </p:spTree>
    <p:extLst>
      <p:ext uri="{BB962C8B-B14F-4D97-AF65-F5344CB8AC3E}">
        <p14:creationId xmlns:p14="http://schemas.microsoft.com/office/powerpoint/2010/main" val="18492672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A29884-24E4-403E-BD35-95CCDAB0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Was das Projekt gut kann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C97CE-4945-466F-98A1-FEE67B83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E5159-C235-4E0F-BCAF-8A84169D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Die Stärke liegt in der vollständigen, nachvollziehbaren Pipeline.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A49B1-01B9-4B24-8013-85EBDE09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Probabilistische Energiedatenvorhersage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7BC00-F491-4D36-AFCE-4F08997E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3CFE7-51D2-4094-B7E2-302C03C8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3048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E4984-BAC0-4BBA-9D1B-668ED827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3048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A795A-1C52-42C2-9D68-DB61185C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84D"/>
                </a:solidFill>
              </a:defRPr>
            </a:pPr>
            <a:r>
              <a:rPr sz="1350" b="1">
                <a:solidFill>
                  <a:srgbClr val="FFB84D"/>
                </a:solidFill>
              </a:rPr>
              <a:t>End-to-End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10D48-27B0-4431-9C40-2B1AAF85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70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Upload, Bereinigung, Training, Evaluation und Dashboard greifen ineinander.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92628-0B80-4CB3-BC7A-15B9D6C5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81150"/>
            <a:ext cx="3048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1D8AEE-DFFA-4903-A090-B763C4A5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81150"/>
            <a:ext cx="3048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8B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79BB2F-8962-42C1-AB05-EE795964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907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8B5A"/>
                </a:solidFill>
              </a:defRPr>
            </a:pPr>
            <a:r>
              <a:rPr sz="1350" b="1">
                <a:solidFill>
                  <a:srgbClr val="228B5A"/>
                </a:solidFill>
              </a:rPr>
              <a:t>Methodisch sauberer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06F7C-5DB2-4DEA-956E-121BCA03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90750"/>
            <a:ext cx="270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Chronologischer Split und Scaler nur auf Trainingsdaten verhindern Datenleckage.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E00B2C-1262-45DE-918D-BC65CEE3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81150"/>
            <a:ext cx="3048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2829D-6C54-4512-B315-BE326ABF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81150"/>
            <a:ext cx="3048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4E2D74-6870-4DF4-9D34-F9B21DC2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907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Probabilistisch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0C5D23-E64E-45B5-BEF2-B1FAB22A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270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q0.1, q0.5 und q0.9 machen Unsicherheit sichtbar statt sie zu verstecken.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8E64F-625A-4C24-A38C-1259997D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048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D98B4-2F6F-43AB-AE20-A788319A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048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4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BE60CC-A8DA-4C91-B007-9E0B9F91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4CF6"/>
                </a:solidFill>
              </a:defRPr>
            </a:pPr>
            <a:r>
              <a:rPr sz="1350" b="1">
                <a:solidFill>
                  <a:srgbClr val="8B4CF6"/>
                </a:solidFill>
              </a:rPr>
              <a:t>Vergleichbar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A02533-63D1-45B3-BB33-6D9F4963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71900"/>
            <a:ext cx="270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LSTM und RNN nutzen dieselbe Trainings- und Evaluationslogik.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62672B-2942-442F-8E0E-08A72778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3048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8DB195-CD17-45A6-9DBD-BBEA2051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3048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671791-FCFE-4ADF-8568-D3AC6766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355F"/>
                </a:solidFill>
              </a:defRPr>
            </a:pPr>
            <a:r>
              <a:rPr sz="1350" b="1">
                <a:solidFill>
                  <a:srgbClr val="0B355F"/>
                </a:solidFill>
              </a:rPr>
              <a:t>Reproduzierbar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8F5ADE-2EC2-42E1-9D8C-6313C755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71900"/>
            <a:ext cx="270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Seeds, Docker, Metrikdateien, Modellartefakte und Protokolle dokumentieren den Lauf.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00B853-F75D-4849-9BA0-9F9457A3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62300"/>
            <a:ext cx="3048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F69642-1035-412E-897D-4052ECA7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62300"/>
            <a:ext cx="3048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E9B413-AC88-48BA-8A78-9D5F8487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8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</a:defRPr>
            </a:pPr>
            <a:r>
              <a:rPr sz="1350" b="1">
                <a:solidFill>
                  <a:srgbClr val="38BDF8"/>
                </a:solidFill>
              </a:rPr>
              <a:t>Präsentierbar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8B649B-BE1D-4316-B807-B081F5A4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71900"/>
            <a:ext cx="270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Das Dashboard macht Ergebnisse direkt prüfbar und verständlich erklärbar.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F7E0C2-FDB6-4656-9367-C9DD8AF6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34000"/>
            <a:ext cx="81153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B0EB7F-30AA-4A7C-832D-930BE053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14975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Vielen Dank für eure Aufmerksamkeit!</a:t>
            </a:r>
          </a:p>
        </p:txBody>
      </p:sp>
    </p:spTree>
    <p:extLst>
      <p:ext uri="{BB962C8B-B14F-4D97-AF65-F5344CB8AC3E}">
        <p14:creationId xmlns:p14="http://schemas.microsoft.com/office/powerpoint/2010/main" val="5603129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2026-07-14T07:37:02.5510000Z</dcterms:created>
  <dcterms:modified xsi:type="dcterms:W3CDTF">2026-07-14T07:37:02.5510000Z</dcterms:modified>
</coreProperties>
</file>