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" y="6099048"/>
            <a:ext cx="12051792" cy="713232"/>
          </a:xfrm>
          <a:prstGeom prst="rect">
            <a:avLst/>
          </a:prstGeom>
          <a:solidFill>
            <a:srgbClr val="0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5303520" cy="1600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Probabilistische
Energiedaten-
vorhersage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47872"/>
            <a:ext cx="548640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Technische Projektvorstellung: Von SMARD-Daten zu Quantilprognosen
mit LSTM und RNN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42062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D1DBE6"/>
                </a:solidFill>
                <a:latin typeface="Aptos"/>
              </a:rPr>
              <a:t>von Jan-Christian Raabe und Valentin Bäumer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355080"/>
            <a:ext cx="548640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SMARD-Marktdaten · PyTorch · Quantilregression · Streamlit · Docker</a:t>
            </a:r>
          </a:p>
        </p:txBody>
      </p:sp>
      <p:sp>
        <p:nvSpPr>
          <p:cNvPr id="7" name="Oval 6"/>
          <p:cNvSpPr/>
          <p:nvPr/>
        </p:nvSpPr>
        <p:spPr>
          <a:xfrm>
            <a:off x="8750808" y="24871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445752" y="274320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17197" y="3053557"/>
            <a:ext cx="193974" cy="1939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06840" y="3182112"/>
            <a:ext cx="0" cy="27432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02508" y="3053557"/>
            <a:ext cx="193974" cy="1939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93608" y="274320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8502508" y="2238868"/>
            <a:ext cx="193974" cy="1939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006840" y="2029967"/>
            <a:ext cx="0" cy="274321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317197" y="2238868"/>
            <a:ext cx="193974" cy="19397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909560" y="4069080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4069080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1352" y="4069080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42248" y="4069080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4069080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4040" y="4069080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4325112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11896" y="4325112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2" y="4325112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4325112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4325112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480" y="4325112"/>
            <a:ext cx="2560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Gliederung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1056132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335024"/>
            <a:ext cx="3200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25880"/>
            <a:ext cx="20574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1">
                <a:solidFill>
                  <a:srgbClr val="0D121A"/>
                </a:solidFill>
                <a:latin typeface="Aptos"/>
              </a:rPr>
              <a:t>Motivation und Ziel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316736"/>
            <a:ext cx="65379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0D121A"/>
                </a:solidFill>
                <a:latin typeface="Aptos"/>
              </a:rPr>
              <a:t>Warum probabilistische Prognosen für Photovoltaik sinnvoll sind.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65376"/>
            <a:ext cx="1056132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200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0824"/>
            <a:ext cx="20574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1">
                <a:solidFill>
                  <a:srgbClr val="0D121A"/>
                </a:solidFill>
                <a:latin typeface="Aptos"/>
              </a:rPr>
              <a:t>Gesamtpipeline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011680"/>
            <a:ext cx="65379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0D121A"/>
                </a:solidFill>
                <a:latin typeface="Aptos"/>
              </a:rPr>
              <a:t>Wie Daten, Modelle, Metriken und Dashboard zusammenarbeiten.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0320"/>
            <a:ext cx="1056132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24912"/>
            <a:ext cx="3200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20574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1">
                <a:solidFill>
                  <a:srgbClr val="0D121A"/>
                </a:solidFill>
                <a:latin typeface="Aptos"/>
              </a:rPr>
              <a:t>Verfahren im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706624"/>
            <a:ext cx="65379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0D121A"/>
                </a:solidFill>
                <a:latin typeface="Aptos"/>
              </a:rPr>
              <a:t>Was, Warum und Wie für Datenaufbereitung, Features, Split, Skalierung, Sequenzen, Quantile, LSTM und RNN.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55264"/>
            <a:ext cx="1056132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419856"/>
            <a:ext cx="3200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10712"/>
            <a:ext cx="20574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1">
                <a:solidFill>
                  <a:srgbClr val="0D121A"/>
                </a:solidFill>
                <a:latin typeface="Aptos"/>
              </a:rPr>
              <a:t>Bewertung und Nachweis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401568"/>
            <a:ext cx="65379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0D121A"/>
                </a:solidFill>
                <a:latin typeface="Aptos"/>
              </a:rPr>
              <a:t>Welche Metriken genutzt werden und wie ein Ergebnisbeispiel aussieht.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50208"/>
            <a:ext cx="1056132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14800"/>
            <a:ext cx="320040" cy="1371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05656"/>
            <a:ext cx="20574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1">
                <a:solidFill>
                  <a:srgbClr val="0D121A"/>
                </a:solidFill>
                <a:latin typeface="Aptos"/>
              </a:rPr>
              <a:t>Stärken, Grenzen, Ausblick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096512"/>
            <a:ext cx="65379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0D121A"/>
                </a:solidFill>
                <a:latin typeface="Aptos"/>
              </a:rPr>
              <a:t>Was das Projekt gut kann, was kritisch bleibt und was der nächste Qualitätssprung wäre.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Motivation und Zielsetzung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Volatile PV-Erzeugung erzeugt Risiko, wenn Prognosen nur einen Punktwert liefern.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920240" cy="2743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0A305B"/>
                </a:solidFill>
                <a:latin typeface="Aptos"/>
              </a:rPr>
              <a:t>Kernproblem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846320" cy="8961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40">
                <a:solidFill>
                  <a:srgbClr val="0D121A"/>
                </a:solidFill>
                <a:latin typeface="Aptos"/>
              </a:defRPr>
            </a:pPr>
            <a:r>
              <a:t>PV-Erzeugung ist wetter-, tages- und jahreszeitabhängig.</a:t>
            </a:r>
          </a:p>
          <a:p>
            <a:pPr>
              <a:defRPr sz="1240">
                <a:solidFill>
                  <a:srgbClr val="0D121A"/>
                </a:solidFill>
                <a:latin typeface="Aptos"/>
              </a:defRPr>
            </a:pPr>
            <a:r>
              <a:t>Klassische Punktprognosen zeigen nur einen Wert und blenden Unsicherheit aus.</a:t>
            </a:r>
          </a:p>
          <a:p>
            <a:pPr>
              <a:defRPr sz="1240">
                <a:solidFill>
                  <a:srgbClr val="0D121A"/>
                </a:solidFill>
                <a:latin typeface="Aptos"/>
              </a:defRPr>
            </a:pPr>
            <a:r>
              <a:t>Bei Abweichungen steigt der Bedarf an kurzfristiger Ausgleichsenergie.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417320"/>
            <a:ext cx="1417320" cy="105156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58191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2E81EB"/>
                </a:solidFill>
                <a:latin typeface="Aptos"/>
              </a:rPr>
              <a:t>q0.1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202082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untere Grenze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286000"/>
            <a:ext cx="1088136" cy="13715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80%-Band unten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1417320" cy="105156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158191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0A305B"/>
                </a:solidFill>
                <a:latin typeface="Aptos"/>
              </a:rPr>
              <a:t>q0.5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202082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2286000"/>
            <a:ext cx="1088136" cy="13715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zentrale Prognose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17320"/>
            <a:ext cx="1417320" cy="105156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58191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268658"/>
                </a:solidFill>
                <a:latin typeface="Aptos"/>
              </a:rPr>
              <a:t>q0.9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02082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obere Grenze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286000"/>
            <a:ext cx="1088136" cy="13715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80%-Band oben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10561320" cy="114300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18288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0A305B"/>
                </a:solidFill>
                <a:latin typeface="Aptos"/>
              </a:rPr>
              <a:t>Ziel des Projekts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127248"/>
            <a:ext cx="73152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30">
                <a:solidFill>
                  <a:srgbClr val="0D121A"/>
                </a:solidFill>
                <a:latin typeface="Aptos"/>
              </a:defRPr>
            </a:pPr>
            <a:r>
              <a:t>Entwicklung, Implementierung und Evaluierung einer probabilistischen, multivariaten PV-Zeitreihenvorhersage.</a:t>
            </a:r>
          </a:p>
          <a:p>
            <a:pPr>
              <a:defRPr sz="1230">
                <a:solidFill>
                  <a:srgbClr val="0D121A"/>
                </a:solidFill>
                <a:latin typeface="Aptos"/>
              </a:defRPr>
            </a:pPr>
            <a:r>
              <a:t>Statt einer starren Punktprognose wird ein dynamischer 80%-Sicherheitskorridor berechnet.</a:t>
            </a:r>
          </a:p>
          <a:p>
            <a:pPr>
              <a:defRPr sz="1230">
                <a:solidFill>
                  <a:srgbClr val="0D121A"/>
                </a:solidFill>
                <a:latin typeface="Aptos"/>
              </a:defRPr>
            </a:pPr>
            <a:r>
              <a:t>Die Umsetzung erfolgt über Quantilregression mit Pinball Loss.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315468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63440"/>
            <a:ext cx="315468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828031"/>
            <a:ext cx="286207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Modellvergleich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193792"/>
            <a:ext cx="2834640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19">
                <a:solidFill>
                  <a:srgbClr val="0D121A"/>
                </a:solidFill>
                <a:latin typeface="Aptos"/>
              </a:defRPr>
            </a:pPr>
            <a:r>
              <a:t>LSTM und klassisches RNN werden empirisch gegenübergestellt.</a:t>
            </a:r>
          </a:p>
          <a:p>
            <a:pPr>
              <a:defRPr sz="919">
                <a:solidFill>
                  <a:srgbClr val="0D121A"/>
                </a:solidFill>
                <a:latin typeface="Aptos"/>
              </a:defRPr>
            </a:pPr>
            <a:r>
              <a:t>Gesucht ist die robustere kurzfristige PV-Prognose.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663440"/>
            <a:ext cx="315468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4663440"/>
            <a:ext cx="315468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4828031"/>
            <a:ext cx="286207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Transparenz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5193792"/>
            <a:ext cx="2834640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19">
                <a:solidFill>
                  <a:srgbClr val="0D121A"/>
                </a:solidFill>
                <a:latin typeface="Aptos"/>
              </a:defRPr>
            </a:pPr>
            <a:r>
              <a:t>Permutation Feature Importance zeigt, welche Einflussfaktoren die Prognose treiben.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663440"/>
            <a:ext cx="315468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4663440"/>
            <a:ext cx="315468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4828031"/>
            <a:ext cx="286207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Validierung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5193792"/>
            <a:ext cx="2834640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19">
                <a:solidFill>
                  <a:srgbClr val="0D121A"/>
                </a:solidFill>
                <a:latin typeface="Aptos"/>
              </a:defRPr>
            </a:pPr>
            <a:r>
              <a:t>Das Unsicherheitsband wird gegen historische Realität geprüft:</a:t>
            </a:r>
          </a:p>
          <a:p>
            <a:pPr>
              <a:defRPr sz="919">
                <a:solidFill>
                  <a:srgbClr val="0D121A"/>
                </a:solidFill>
                <a:latin typeface="Aptos"/>
              </a:defRPr>
            </a:pPr>
            <a:r>
              <a:t>breiter bei hoher Unsicherheit, enger bei stabileren Verläufen.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Gesamtpipeline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Die Komponenten greifen als reproduzierbare Pipeline ineinander.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46304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46304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2199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78608"/>
            <a:ext cx="1115568" cy="457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0D121A"/>
                </a:solidFill>
                <a:latin typeface="Aptos"/>
              </a:rPr>
              <a:t>SMARD-CSV
optional
Wetter-CSV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651760"/>
            <a:ext cx="365760" cy="0"/>
          </a:xfrm>
          <a:prstGeom prst="line">
            <a:avLst/>
          </a:prstGeom>
          <a:ln w="15240">
            <a:solidFill>
              <a:srgbClr val="B2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057400"/>
            <a:ext cx="146304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2057400"/>
            <a:ext cx="146304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22199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FF6F3D"/>
                </a:solidFill>
                <a:latin typeface="Aptos"/>
              </a:rPr>
              <a:t>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578608"/>
            <a:ext cx="1115568" cy="457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0D121A"/>
                </a:solidFill>
                <a:latin typeface="Aptos"/>
              </a:rPr>
              <a:t>Bereinigung
Tagesprofile
Korrelationen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651760"/>
            <a:ext cx="365761" cy="0"/>
          </a:xfrm>
          <a:prstGeom prst="line">
            <a:avLst/>
          </a:prstGeom>
          <a:ln w="15240">
            <a:solidFill>
              <a:srgbClr val="B2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89120" y="2057400"/>
            <a:ext cx="146304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057400"/>
            <a:ext cx="1463040" cy="73152"/>
          </a:xfrm>
          <a:prstGeom prst="rect">
            <a:avLst/>
          </a:prstGeom>
          <a:solidFill>
            <a:srgbClr val="E6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22199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E64E58"/>
                </a:solidFill>
                <a:latin typeface="Aptos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578608"/>
            <a:ext cx="1115568" cy="457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0D121A"/>
                </a:solidFill>
                <a:latin typeface="Aptos"/>
              </a:rPr>
              <a:t>Zeitzyklen
PV-Historie
Wind, Erdgas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651760"/>
            <a:ext cx="365760" cy="0"/>
          </a:xfrm>
          <a:prstGeom prst="line">
            <a:avLst/>
          </a:prstGeom>
          <a:ln w="15240">
            <a:solidFill>
              <a:srgbClr val="B2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2057400"/>
            <a:ext cx="146304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1463040" cy="73152"/>
          </a:xfrm>
          <a:prstGeom prst="rect">
            <a:avLst/>
          </a:prstGeom>
          <a:solidFill>
            <a:srgbClr val="8F5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22199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8F56E0"/>
                </a:solidFill>
                <a:latin typeface="Aptos"/>
              </a:rPr>
              <a:t>Split &amp;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578608"/>
            <a:ext cx="1115568" cy="457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0D121A"/>
                </a:solidFill>
                <a:latin typeface="Aptos"/>
              </a:rPr>
              <a:t>chronologisch
Scaler nur Train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26679" y="2651760"/>
            <a:ext cx="365761" cy="0"/>
          </a:xfrm>
          <a:prstGeom prst="line">
            <a:avLst/>
          </a:prstGeom>
          <a:ln w="15240">
            <a:solidFill>
              <a:srgbClr val="B2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38159" y="2057400"/>
            <a:ext cx="146304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2057400"/>
            <a:ext cx="146304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2199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2E81EB"/>
                </a:solidFill>
                <a:latin typeface="Aptos"/>
              </a:rPr>
              <a:t>Modelle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578608"/>
            <a:ext cx="1115568" cy="457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0D121A"/>
                </a:solidFill>
                <a:latin typeface="Aptos"/>
              </a:rPr>
              <a:t>LSTM und RNN
q0.1, q0.5, q0.9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01199" y="2651760"/>
            <a:ext cx="365760" cy="0"/>
          </a:xfrm>
          <a:prstGeom prst="line">
            <a:avLst/>
          </a:prstGeom>
          <a:ln w="15240">
            <a:solidFill>
              <a:srgbClr val="B2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12680" y="2057400"/>
            <a:ext cx="1463040" cy="11430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12680" y="2057400"/>
            <a:ext cx="1463040" cy="7315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2221992"/>
            <a:ext cx="11430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1">
                <a:solidFill>
                  <a:srgbClr val="3CB4E6"/>
                </a:solidFill>
                <a:latin typeface="Aptos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2578608"/>
            <a:ext cx="1115568" cy="4572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0D121A"/>
                </a:solidFill>
                <a:latin typeface="Aptos"/>
              </a:rPr>
              <a:t>PICP, RMSE
Winkler,
Pinball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126480" y="3218688"/>
            <a:ext cx="4434840" cy="667512"/>
          </a:xfrm>
          <a:prstGeom prst="bentConnector3">
            <a:avLst/>
          </a:prstGeom>
          <a:ln w="13970">
            <a:solidFill>
              <a:srgbClr val="B2B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86200" y="4480560"/>
            <a:ext cx="5577840" cy="749808"/>
          </a:xfrm>
          <a:prstGeom prst="round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736592"/>
            <a:ext cx="21031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Streamlit-Dashboard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17720"/>
            <a:ext cx="251460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macht Metriken, Plots, Protokolle und regelbasierte Interpretation direkt nutzbar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Explorative Datenanalyse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Die Datenaufbereitung sorgt dafür, dass aus CSV-Zeilen ein lernbarer Zeitindex wird.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108960" cy="201168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3108960" cy="7315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3CB4E6"/>
                </a:solidFill>
                <a:latin typeface="Aptos"/>
              </a:rPr>
              <a:t>Was?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30552"/>
            <a:ext cx="2788920" cy="1353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Die SMARD-Datei wird eingelesen, deutsche Zahlenformate werden konvertiert und Zeitstempel werden als sortierter DatetimeIndex verarbeitet.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108960" cy="201168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310896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76479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Warum?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130552"/>
            <a:ext cx="2788920" cy="1353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Neuronale Modelle können nur mit konsistenten numerischen Arrays arbeiten. Fehlerhafte Zeitstempel würden Training und Evaluation verfälschen.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00200"/>
            <a:ext cx="3108960" cy="201168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00200"/>
            <a:ext cx="3108960" cy="73152"/>
          </a:xfrm>
          <a:prstGeom prst="rect">
            <a:avLst/>
          </a:prstGeom>
          <a:solidFill>
            <a:srgbClr val="8F5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76479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8F56E0"/>
                </a:solidFill>
                <a:latin typeface="Aptos"/>
              </a:rPr>
              <a:t>Wie?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2130552"/>
            <a:ext cx="2788920" cy="1353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Flexible CSV-Erkennung, Umwandlung bspw. von 4.167,28 zu 4167.28, Sortierung nach Zeit und Entfernen bzw. Interpolieren fehlender Werte.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05072"/>
            <a:ext cx="100584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24528"/>
            <a:ext cx="9601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0D121A"/>
                </a:solidFill>
                <a:latin typeface="Aptos"/>
              </a:rPr>
              <a:t>Optional kann eine Wetter-CSV ergänzt werden. Numerische Wetterspalten werden mit `weather_` präfixiert und zeitlich auf die SMARD-Reihe gemergt.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83480"/>
            <a:ext cx="45720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da_tagesprofil_04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08" y="5065776"/>
            <a:ext cx="1548384" cy="1161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7840" y="5230368"/>
            <a:ext cx="45720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60">
                <a:solidFill>
                  <a:srgbClr val="0D121A"/>
                </a:solidFill>
                <a:latin typeface="Aptos"/>
              </a:defRPr>
            </a:pPr>
            <a:r>
              <a:t>Das Tagesprofil zeigt, warum Zeitfeatures sinnvoll sind:</a:t>
            </a:r>
          </a:p>
          <a:p>
            <a:pPr>
              <a:defRPr sz="1260">
                <a:solidFill>
                  <a:srgbClr val="0D121A"/>
                </a:solidFill>
                <a:latin typeface="Aptos"/>
              </a:defRPr>
            </a:pPr>
            <a:r>
              <a:t>Photovoltaik folgt einem klaren Tagesrhythmus.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Zeitliche Muster und Kontextinformationen werden explizit lernbar gemacht.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20624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korrelations_heatmap_04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1499616"/>
            <a:ext cx="3802075" cy="27157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257800" y="1417320"/>
            <a:ext cx="5440680" cy="82296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57800" y="1417320"/>
            <a:ext cx="544068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22392" y="1581912"/>
            <a:ext cx="514807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2392" y="1947672"/>
            <a:ext cx="51206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>
                <a:solidFill>
                  <a:srgbClr val="0D121A"/>
                </a:solidFill>
                <a:latin typeface="Aptos"/>
              </a:defRPr>
            </a:pPr>
            <a:r>
              <a:t>Aus Rohdaten werden Modellfeatures: PV-Historie, Wind Onshore, Erdgas, Stunde, Wochentag und Wochenende.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514600"/>
            <a:ext cx="5440680" cy="82296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2514600"/>
            <a:ext cx="544068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2679192"/>
            <a:ext cx="514807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3044952"/>
            <a:ext cx="51206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>
                <a:solidFill>
                  <a:srgbClr val="0D121A"/>
                </a:solidFill>
                <a:latin typeface="Aptos"/>
              </a:defRPr>
            </a:pPr>
            <a:r>
              <a:t>PV folgt zyklischen Mustern. Sinus/Cosinus kodieren Uhrzeit und Wochentag so, dass Übergänge wie 23 Uhr zu 0 Uhr sinnvoll abgebildet werden.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3611880"/>
            <a:ext cx="5440680" cy="82296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3611880"/>
            <a:ext cx="544068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3776472"/>
            <a:ext cx="514807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4142232"/>
            <a:ext cx="51206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>
                <a:solidFill>
                  <a:srgbClr val="0D121A"/>
                </a:solidFill>
                <a:latin typeface="Aptos"/>
              </a:defRPr>
            </a:pPr>
            <a:r>
              <a:t>`hour_sin`, `hour_cos`, `weekday_sin`, `weekday_cos`, `is_weekend`; optionale Wetterspalten werden automatisch ergänzt.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92040"/>
            <a:ext cx="10058400" cy="84124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38928"/>
            <a:ext cx="21031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A305B"/>
                </a:solidFill>
                <a:latin typeface="Aptos"/>
              </a:rPr>
              <a:t>Begründung der Feature-Auswahl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010912"/>
            <a:ext cx="65836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80">
                <a:solidFill>
                  <a:srgbClr val="0D121A"/>
                </a:solidFill>
                <a:latin typeface="Aptos"/>
              </a:defRPr>
            </a:pPr>
            <a:r>
              <a:t>Die Features verbinden historische PV-Erzeugung,</a:t>
            </a:r>
          </a:p>
          <a:p>
            <a:pPr>
              <a:defRPr sz="1180">
                <a:solidFill>
                  <a:srgbClr val="0D121A"/>
                </a:solidFill>
                <a:latin typeface="Aptos"/>
              </a:defRPr>
            </a:pPr>
            <a:r>
              <a:t>zeitliche Struktur und weitere Energiesystemgrößen.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Chronologischer Split und Skalierung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Die wichtigste methodische Absicherung gegen Data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108960" cy="233172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10896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2788920" cy="16733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Die Zeitreihe wird chronologisch in Training, Validierung und Test aufgeteilt. Danach werden Features und Zielvariable skaliert.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108960" cy="233172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10896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8191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947672"/>
            <a:ext cx="2788920" cy="16733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Ein zufälliger Split oder ein Scaler auf allen Daten würde Informationen aus dem Testzeitraum ins Training tragen.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17320"/>
            <a:ext cx="3108960" cy="233172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417320"/>
            <a:ext cx="310896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58191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947672"/>
            <a:ext cx="2788920" cy="167335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`MinMaxScaler` wird nur auf Trainingsdaten gefittet. Validierung und Test werden danach mit demselben Scaler transformiert.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4480560"/>
            <a:ext cx="8138160" cy="685800"/>
          </a:xfrm>
          <a:prstGeom prst="roundRect">
            <a:avLst/>
          </a:prstGeom>
          <a:solidFill>
            <a:srgbClr val="0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4727448"/>
            <a:ext cx="74066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fit scaler: train only    →    transform train + validation +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10149840" cy="21945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5D6571"/>
                </a:solidFill>
                <a:latin typeface="Aptos"/>
              </a:rPr>
              <a:t>So bewerten die Testmetriken echte Zukunftsdaten relativ zum Trainingszeitraum.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Sequenzbau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Aus Einzelzeitpunkten wird ein echtes Zeitreihenproblem.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200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0A305B"/>
                </a:solidFill>
                <a:latin typeface="Aptos"/>
              </a:rPr>
              <a:t>24 Stunden Vergangenheit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164592" cy="16459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44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916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202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488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46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2359152"/>
            <a:ext cx="164592" cy="16459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840480" y="2240280"/>
            <a:ext cx="1188720" cy="0"/>
          </a:xfrm>
          <a:prstGeom prst="line">
            <a:avLst/>
          </a:prstGeom>
          <a:ln w="25400">
            <a:solidFill>
              <a:srgbClr val="0A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57800" y="2029968"/>
            <a:ext cx="9144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Modell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4920" y="1828800"/>
            <a:ext cx="1325880" cy="786384"/>
          </a:xfrm>
          <a:prstGeom prst="round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400800" y="2240280"/>
            <a:ext cx="1097279" cy="0"/>
          </a:xfrm>
          <a:prstGeom prst="line">
            <a:avLst/>
          </a:prstGeom>
          <a:ln w="25400">
            <a:solidFill>
              <a:srgbClr val="0A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35240" y="1847088"/>
            <a:ext cx="2286000" cy="749808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2075688"/>
            <a:ext cx="164592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0A305B"/>
                </a:solidFill>
                <a:latin typeface="Aptos"/>
              </a:rPr>
              <a:t>nächster Zielwert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703320"/>
            <a:ext cx="3108960" cy="141732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703320"/>
            <a:ext cx="310896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867911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233672"/>
            <a:ext cx="278892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Jede Vorhersage nutzt ein Fenster vergangener Werte statt nur einen Zeitpunkt.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3703320"/>
            <a:ext cx="3108960" cy="141732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20" y="3703320"/>
            <a:ext cx="310896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5112" y="3867911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5112" y="4233672"/>
            <a:ext cx="278892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Tagesanstieg, Peak und Abendabfall sind zeitliche Muster, die Sequenzmodelle lernen können.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3703320"/>
            <a:ext cx="3108960" cy="141732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0" y="3703320"/>
            <a:ext cx="310896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9831" y="3867911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9831" y="4233672"/>
            <a:ext cx="278892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Die Auflösung bestimmt die Fensterlänge. Bei Stundendaten entspricht 24h einem Fenster von 24 Schritten.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Quantilprognose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Die reine Punktprognose wird durch Unsicherheitsinformation ersetzt.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434840" cy="310896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7315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268658"/>
                </a:solidFill>
                <a:latin typeface="Aptos"/>
              </a:rPr>
              <a:t>q0.9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56231"/>
            <a:ext cx="1463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0D121A"/>
                </a:solidFill>
                <a:latin typeface="Aptos"/>
              </a:rPr>
              <a:t>obere Grenze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7315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0A305B"/>
                </a:solidFill>
                <a:latin typeface="Aptos"/>
              </a:rPr>
              <a:t>q0.5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70632"/>
            <a:ext cx="1463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0D121A"/>
                </a:solidFill>
                <a:latin typeface="Aptos"/>
              </a:rP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57600"/>
            <a:ext cx="73152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2E81EB"/>
                </a:solidFill>
                <a:latin typeface="Aptos"/>
              </a:rPr>
              <a:t>q0.1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85032"/>
            <a:ext cx="1463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00" b="0">
                <a:solidFill>
                  <a:srgbClr val="0D121A"/>
                </a:solidFill>
                <a:latin typeface="Aptos"/>
              </a:rPr>
              <a:t>untere Grenze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1956816"/>
            <a:ext cx="1234440" cy="0"/>
          </a:xfrm>
          <a:prstGeom prst="line">
            <a:avLst/>
          </a:prstGeom>
          <a:ln w="27940">
            <a:solidFill>
              <a:srgbClr val="2686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37560" y="2871216"/>
            <a:ext cx="1234440" cy="0"/>
          </a:xfrm>
          <a:prstGeom prst="line">
            <a:avLst/>
          </a:prstGeom>
          <a:ln w="27940">
            <a:solidFill>
              <a:srgbClr val="0A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3785615"/>
            <a:ext cx="1234440" cy="0"/>
          </a:xfrm>
          <a:prstGeom prst="line">
            <a:avLst/>
          </a:prstGeom>
          <a:ln w="27940">
            <a:solidFill>
              <a:srgbClr val="2E8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1417320"/>
            <a:ext cx="4892040" cy="9144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1417320"/>
            <a:ext cx="489204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1581912"/>
            <a:ext cx="4599431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1947672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Das Modell gibt drei Werte aus: q0.1, q0.5 und q0.9.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606040"/>
            <a:ext cx="4892040" cy="9144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23560" y="2606040"/>
            <a:ext cx="489204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2770632"/>
            <a:ext cx="4599431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8152" y="3136392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Ein einzelner Wert unterschätzt die Unsicherheit volatiler PV-Erzeugung.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3794760"/>
            <a:ext cx="4892040" cy="9144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23560" y="3794760"/>
            <a:ext cx="489204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3959352"/>
            <a:ext cx="4599431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4325112"/>
            <a:ext cx="45720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Die letzte lineare Schicht hat drei Outputs. q0.1 bis q0.9 bilden ein nominelles 80%-Intervall.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66360"/>
            <a:ext cx="97383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330952"/>
            <a:ext cx="932688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080" b="0">
                <a:solidFill>
                  <a:srgbClr val="5D6571"/>
                </a:solidFill>
                <a:latin typeface="Aptos"/>
              </a:rPr>
              <a:t>Die 80%-Abdeckung ist bewusst gewählt: gut erklärbar, breit genug für Unsicherheit, aber nicht so breit wie ein 95%-Intervall.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Pinball Loss und Crossing-Penalty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Quantile brauchen eine andere Verlustfunktion als klassische Punktprognosen.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108960" cy="21488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10896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2788920" cy="1490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Pinball Loss ist eine asymmetrische Verlustfunktion für Quantile. Unter- und Überschätzung werden je nach Quantil unterschiedlich bestraft.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108960" cy="21488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10896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58191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947672"/>
            <a:ext cx="2788920" cy="1490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MSE und MAE trainieren zentrale Punktwerte. Für q0.1 und q0.9 brauchen wir gezielte untere und obere Grenzen.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17320"/>
            <a:ext cx="3108960" cy="21488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417320"/>
            <a:ext cx="310896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1581912"/>
            <a:ext cx="281635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947672"/>
            <a:ext cx="2788920" cy="1490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Die Quantil-Losses werden summiert. Zusätzlich bestraft eine Crossing-Penalty falsche Quantilreihenfolgen.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315968"/>
            <a:ext cx="8595360" cy="786384"/>
          </a:xfrm>
          <a:prstGeom prst="roundRect">
            <a:avLst/>
          </a:prstGeom>
          <a:solidFill>
            <a:srgbClr val="0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599432"/>
            <a:ext cx="786384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training_loss = pinball_loss(q0.1, q0.5, q0.9) + 0.2 · crossing_penalty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69280"/>
            <a:ext cx="100584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300" b="0">
                <a:solidFill>
                  <a:srgbClr val="5D6571"/>
                </a:solidFill>
                <a:latin typeface="Aptos"/>
              </a:rPr>
              <a:t>Ziel: fachlich konsistente Prognosen mit q0.1 ≤ q0.5 ≤ q0.9.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LSTM und RNN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Zwei Sequenzmodelle mit identischer Trainings- und Evaluationslogik.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754880" cy="361188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754880" cy="361188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37160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2E81EB"/>
                </a:solidFill>
                <a:latin typeface="Aptos"/>
              </a:rPr>
              <a:t>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82296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04288"/>
            <a:ext cx="315468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0D121A"/>
                </a:solidFill>
                <a:latin typeface="Aptos"/>
              </a:rPr>
              <a:t>Rekurrentes Netz mit Gates zum Speichern und Vergessen von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82296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44368"/>
            <a:ext cx="315468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0D121A"/>
                </a:solidFill>
                <a:latin typeface="Aptos"/>
              </a:rPr>
              <a:t>Geeignet, wenn längere zeitliche Abhängigkeiten relevant sind.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82296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84448"/>
            <a:ext cx="3154680" cy="38404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0D121A"/>
                </a:solidFill>
                <a:latin typeface="Aptos"/>
              </a:rPr>
              <a:t>2 Layer, Hidden Size 128, Dropout 0.2, lineare Ausgabe auf drei Quantile.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137160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200" b="1">
                <a:solidFill>
                  <a:srgbClr val="2E81EB"/>
                </a:solidFill>
                <a:latin typeface="Aptos"/>
              </a:rPr>
              <a:t>RNN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82296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304288"/>
            <a:ext cx="3154680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0D121A"/>
                </a:solidFill>
                <a:latin typeface="Aptos"/>
              </a:rPr>
              <a:t>Einfaches rekurrentes Netz mit verstecktem Zustand pro Zeitschritt.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82296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944368"/>
            <a:ext cx="3154680" cy="4023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0D121A"/>
                </a:solidFill>
                <a:latin typeface="Aptos"/>
              </a:rPr>
              <a:t>Verständliche Baseline: zeigt, ob die komplexere LSTM-Struktur wirklich nötig 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80"/>
            <a:ext cx="82296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584448"/>
            <a:ext cx="3154680" cy="42062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00" b="0">
                <a:solidFill>
                  <a:srgbClr val="0D121A"/>
                </a:solidFill>
                <a:latin typeface="Aptos"/>
              </a:rPr>
              <a:t>Gleiche Featurebasis, gleiche Quantile, gleiche Evaluation; nur Kernarchitektur unterscheidet sich.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440680"/>
            <a:ext cx="8046720" cy="530352"/>
          </a:xfrm>
          <a:prstGeom prst="round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632704"/>
            <a:ext cx="75438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Fairer Vergleich: Training, Split, Loss, Metriken und Plots liegen in gemeinsamen Hilfsfunktionen.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Training und Reproduzierbarkeit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Der Modelllauf soll nachvollziehbar und fair vergleichbar sein.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017520" cy="12344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01752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272491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2697479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Python, NumPy und PyTorch werden initialisiert.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017520" cy="12344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017520" cy="73152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581912"/>
            <a:ext cx="272491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3CB4E6"/>
                </a:solidFill>
                <a:latin typeface="Aptos"/>
              </a:rPr>
              <a:t>DataLoader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47672"/>
            <a:ext cx="2697479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Training läuft in Batches mit reproduzierbarem Shuffle.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417320"/>
            <a:ext cx="3017520" cy="12344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17320"/>
            <a:ext cx="301752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581912"/>
            <a:ext cx="272491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Early Stopping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1947672"/>
            <a:ext cx="2697479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Der beste Checkpoint wird über den Validierungsloss gewählt.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017520" cy="12344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301752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319272"/>
            <a:ext cx="272491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Gemeinsame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85032"/>
            <a:ext cx="2697479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LSTM und RNN unterscheiden sich nur in der Modellklasse.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154680"/>
            <a:ext cx="3017520" cy="123444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154680"/>
            <a:ext cx="3017520" cy="73152"/>
          </a:xfrm>
          <a:prstGeom prst="rect">
            <a:avLst/>
          </a:prstGeom>
          <a:solidFill>
            <a:srgbClr val="8F5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319272"/>
            <a:ext cx="272491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8F56E0"/>
                </a:solidFill>
                <a:latin typeface="Aptos"/>
              </a:rPr>
              <a:t>Artefakte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685032"/>
            <a:ext cx="2697479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Modelle, Scaler, Metriken, Plots und Metadaten werden gespeichert.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40680"/>
            <a:ext cx="100584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96926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00" b="0">
                <a:solidFill>
                  <a:srgbClr val="5D6571"/>
                </a:solidFill>
                <a:latin typeface="Aptos"/>
              </a:rPr>
              <a:t>Begründung: Wenn beide Modelle gleich behandelt werden, ist der Vergleich methodisch deutlich sauberer.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Ein probabilistisches Modell muss Fehler und Unsicherheit gemeinsam bestehen.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663440" cy="676656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36776"/>
            <a:ext cx="13258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68658"/>
                </a:solidFill>
                <a:latin typeface="Aptos"/>
              </a:rPr>
              <a:t>PICP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581912"/>
            <a:ext cx="26974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0D121A"/>
                </a:solidFill>
                <a:latin typeface="Aptos"/>
              </a:rPr>
              <a:t>Wie viele echte Werte liegen im 80%-Intervall?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417320"/>
            <a:ext cx="4663440" cy="676656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636776"/>
            <a:ext cx="13258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A305B"/>
                </a:solidFill>
                <a:latin typeface="Aptos"/>
              </a:rPr>
              <a:t>Breite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581912"/>
            <a:ext cx="26974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0D121A"/>
                </a:solidFill>
                <a:latin typeface="Aptos"/>
              </a:rPr>
              <a:t>Wie informativ oder breit ist das Unsicherheitsband?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4663440" cy="676656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42616"/>
            <a:ext cx="13258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A305B"/>
                </a:solidFill>
                <a:latin typeface="Aptos"/>
              </a:rPr>
              <a:t>Median-RMSE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87752"/>
            <a:ext cx="26974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0D121A"/>
                </a:solidFill>
                <a:latin typeface="Aptos"/>
              </a:rPr>
              <a:t>Wie stark weicht die q0.5-Prognose ab?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2423160"/>
            <a:ext cx="4663440" cy="676656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642616"/>
            <a:ext cx="13258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A305B"/>
                </a:solidFill>
                <a:latin typeface="Aptos"/>
              </a:rPr>
              <a:t>Pinball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587752"/>
            <a:ext cx="26974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0D121A"/>
                </a:solidFill>
                <a:latin typeface="Aptos"/>
              </a:rPr>
              <a:t>Wie gut sind die einzelnen Quantile?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4663440" cy="676656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48456"/>
            <a:ext cx="13258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A305B"/>
                </a:solidFill>
                <a:latin typeface="Aptos"/>
              </a:rPr>
              <a:t>Winkler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593592"/>
            <a:ext cx="26974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0D121A"/>
                </a:solidFill>
                <a:latin typeface="Aptos"/>
              </a:rPr>
              <a:t>Wie ist die Balance aus Breite und Fehldeckung?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3429000"/>
            <a:ext cx="4663440" cy="676656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648456"/>
            <a:ext cx="132588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0A305B"/>
                </a:solidFill>
                <a:latin typeface="Aptos"/>
              </a:rPr>
              <a:t>Crossing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93592"/>
            <a:ext cx="269748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19" b="0">
                <a:solidFill>
                  <a:srgbClr val="0D121A"/>
                </a:solidFill>
                <a:latin typeface="Aptos"/>
              </a:rPr>
              <a:t>Bleibt q0.1 ≤ q0.5 ≤ q0.9 erhalten?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92040"/>
            <a:ext cx="1005840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38928"/>
            <a:ext cx="9601200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1250" b="0">
                <a:solidFill>
                  <a:srgbClr val="5D6571"/>
                </a:solidFill>
                <a:latin typeface="Aptos"/>
              </a:rPr>
              <a:t>Wichtig: Ein niedriger RMSE allein reicht nicht. Ein Intervall muss auch kalibriert und nicht unnötig breit sein.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Streamlit-Dashboard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Die technischen Artefakte werden für Nutzerinnen und Nutzer nachvollziehbar aufbereitet.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196596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20040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290779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Was?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2880360" cy="1307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Upload, Pipeline-Start, Ergebnisse, Diagramme, Metriken, Dateien, Protokoll und Impressum liegen in einer lokalen Oberfläche.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00400" cy="196596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320040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581912"/>
            <a:ext cx="290779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Warum?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47672"/>
            <a:ext cx="2880360" cy="1307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Das Projekt soll nicht nur Skripte liefern, sondern einen nachvollziehbaren Workflow für Außenstehende.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2743200" cy="196596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2743200" cy="73152"/>
          </a:xfrm>
          <a:prstGeom prst="rect">
            <a:avLst/>
          </a:prstGeom>
          <a:solidFill>
            <a:srgbClr val="FF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581912"/>
            <a:ext cx="245059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FF6F3D"/>
                </a:solidFill>
                <a:latin typeface="Aptos"/>
              </a:rPr>
              <a:t>Wie?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947672"/>
            <a:ext cx="2423160" cy="1307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Nach der Pipeline wird ein Dashboard-Bundle erzeugt, das kompakte Metriken und Vorschaubilder lädt.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9738360" cy="822960"/>
          </a:xfrm>
          <a:prstGeom prst="roundRect">
            <a:avLst/>
          </a:prstGeom>
          <a:solidFill>
            <a:srgbClr val="06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279392"/>
            <a:ext cx="274320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Regelbasierte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224528"/>
            <a:ext cx="6035040" cy="29260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PICP, Crossing, RMSE, Winkler Score und Modellvergleich werden mit festen, transparenten Regeln erklärt.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Ergebnisbeispiel als Funktionsnachweis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Die Ergebnisse zeigen, dass die Pipeline von Upload bis Evaluation durchläuft.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365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nn_vorhersage_intervall_04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5" y="1614220"/>
            <a:ext cx="6601968" cy="30809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417320"/>
            <a:ext cx="1417320" cy="100584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2" y="158191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268658"/>
                </a:solidFill>
                <a:latin typeface="Aptos"/>
              </a:rPr>
              <a:t>89,6%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202082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RNN PICP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2286000"/>
            <a:ext cx="108813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nahe, eher konservativ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417320"/>
            <a:ext cx="1417320" cy="100584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28632" y="158191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268658"/>
                </a:solidFill>
                <a:latin typeface="Aptos"/>
              </a:rPr>
              <a:t>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202082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Crossing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8632" y="2286000"/>
            <a:ext cx="108813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Output stabil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743200"/>
            <a:ext cx="1417320" cy="100584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290779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0A305B"/>
                </a:solidFill>
                <a:latin typeface="Aptos"/>
              </a:rPr>
              <a:t>1.804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334670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3611880"/>
            <a:ext cx="108813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MWh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743200"/>
            <a:ext cx="1417320" cy="1005840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2907792"/>
            <a:ext cx="1088136" cy="34747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300" b="1">
                <a:solidFill>
                  <a:srgbClr val="0A305B"/>
                </a:solidFill>
                <a:latin typeface="Aptos"/>
              </a:rPr>
              <a:t>6.149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3346704"/>
            <a:ext cx="1088136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D121A"/>
                </a:solidFill>
                <a:latin typeface="Aptos"/>
              </a:rPr>
              <a:t>Winkler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3611880"/>
            <a:ext cx="1088136" cy="914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D6571"/>
                </a:solidFill>
                <a:latin typeface="Aptos"/>
              </a:rPr>
              <a:t>MWh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160520"/>
            <a:ext cx="1737360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0A305B"/>
                </a:solidFill>
                <a:latin typeface="Aptos"/>
              </a:rPr>
              <a:t>Einordnung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3063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80">
                <a:solidFill>
                  <a:srgbClr val="0D121A"/>
                </a:solidFill>
                <a:latin typeface="Aptos"/>
              </a:defRPr>
            </a:pPr>
            <a:r>
              <a:t>Das Beispiel ist kein endgültiger Produktivnachweis.</a:t>
            </a:r>
          </a:p>
          <a:p>
            <a:pPr>
              <a:defRPr sz="1080">
                <a:solidFill>
                  <a:srgbClr val="0D121A"/>
                </a:solidFill>
                <a:latin typeface="Aptos"/>
              </a:defRPr>
            </a:pPr>
            <a:r>
              <a:t>Es zeigt, dass die probabilistische Pipeline technisch funktioniert.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Interpretierbarkeit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Feature Importance zeigt, welche Eingangsinformation das Modell nutzt.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85216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nn_feature_importance_04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5" y="2108606"/>
            <a:ext cx="5687568" cy="22750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95160" y="1417320"/>
            <a:ext cx="3657600" cy="9144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1417320"/>
            <a:ext cx="3657600" cy="73152"/>
          </a:xfrm>
          <a:prstGeom prst="rect">
            <a:avLst/>
          </a:prstGeom>
          <a:solidFill>
            <a:srgbClr val="268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9752" y="1581912"/>
            <a:ext cx="336499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68658"/>
                </a:solidFill>
                <a:latin typeface="Aptos"/>
              </a:rPr>
              <a:t>Wichtigster Treiber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1947672"/>
            <a:ext cx="3337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Die eigene PV-Historie liefert im Beispiel den größten Beitrag.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606040"/>
            <a:ext cx="3657600" cy="9144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606040"/>
            <a:ext cx="3657600" cy="73152"/>
          </a:xfrm>
          <a:prstGeom prst="rect">
            <a:avLst/>
          </a:prstGeom>
          <a:solidFill>
            <a:srgbClr val="2E8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2770632"/>
            <a:ext cx="336499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E81EB"/>
                </a:solidFill>
                <a:latin typeface="Aptos"/>
              </a:rPr>
              <a:t>Zeitliche Struktur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3136392"/>
            <a:ext cx="3337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Zeitfeatures erklären den Tagesrhythmus und ergänzen die Historie.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794760"/>
            <a:ext cx="3657600" cy="914400"/>
          </a:xfrm>
          <a:prstGeom prst="roundRect">
            <a:avLst/>
          </a:prstGeom>
          <a:solidFill>
            <a:srgbClr val="F1F4F7"/>
          </a:solidFill>
          <a:ln w="10160">
            <a:solidFill>
              <a:srgbClr val="B2B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3794760"/>
            <a:ext cx="3657600" cy="73152"/>
          </a:xfrm>
          <a:prstGeom prst="rect">
            <a:avLst/>
          </a:prstGeom>
          <a:solidFill>
            <a:srgbClr val="E6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3959352"/>
            <a:ext cx="3364992" cy="2286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E64E58"/>
                </a:solidFill>
                <a:latin typeface="Aptos"/>
              </a:rPr>
              <a:t>Kritischer Punkt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325112"/>
            <a:ext cx="3337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>
                <a:solidFill>
                  <a:srgbClr val="0D121A"/>
                </a:solidFill>
                <a:latin typeface="Aptos"/>
              </a:defRPr>
            </a:pPr>
            <a:r>
              <a:t>Ohne echte Wetterfeatures sieht das Modell keine konkrete Wetterlage.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Was das Projekt bereits gut kann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Stärken, die in der Präsentation ruhig betont werden können.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1645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68658"/>
                </a:solidFill>
                <a:latin typeface="Aptos"/>
              </a:rPr>
              <a:t>Saubere Methodik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481328"/>
            <a:ext cx="24231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0D121A"/>
                </a:solidFill>
                <a:latin typeface="Aptos"/>
              </a:rPr>
              <a:t>Chronologischer Split und Scaler nur auf Training reduzieren Data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25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7607" y="1554480"/>
            <a:ext cx="1645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68658"/>
                </a:solidFill>
                <a:latin typeface="Aptos"/>
              </a:rPr>
              <a:t>Probabilistische Sicht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1481328"/>
            <a:ext cx="24231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0D121A"/>
                </a:solidFill>
                <a:latin typeface="Aptos"/>
              </a:rPr>
              <a:t>Die Prognose zeigt Unsicherheit statt nur einen Zielwert.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97480"/>
            <a:ext cx="1645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68658"/>
                </a:solidFill>
                <a:latin typeface="Aptos"/>
              </a:rPr>
              <a:t>Vergleichbarkeit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624328"/>
            <a:ext cx="24231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0D121A"/>
                </a:solidFill>
                <a:latin typeface="Aptos"/>
              </a:rPr>
              <a:t>LSTM und RNN teilen Training, Sequenzbau und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468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7" y="2697480"/>
            <a:ext cx="1645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68658"/>
                </a:solidFill>
                <a:latin typeface="Aptos"/>
              </a:rPr>
              <a:t>Nachvollziehbarkeit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624328"/>
            <a:ext cx="24231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0D121A"/>
                </a:solidFill>
                <a:latin typeface="Aptos"/>
              </a:rPr>
              <a:t>Metriken, Plots, Protokolle und Dashboard machen Ergebnisse prüfbar.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40480"/>
            <a:ext cx="1645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68658"/>
                </a:solidFill>
                <a:latin typeface="Aptos"/>
              </a:rPr>
              <a:t>Reproduzierbarkeit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39" y="3767328"/>
            <a:ext cx="24231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0D121A"/>
                </a:solidFill>
                <a:latin typeface="Aptos"/>
              </a:rPr>
              <a:t>Seeds, Dependencies, Docker Compose und Artefaktstruktur helfen bei Wiederholung.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611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3840480"/>
            <a:ext cx="164592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68658"/>
                </a:solidFill>
                <a:latin typeface="Aptos"/>
              </a:rPr>
              <a:t>Erweiterbarkeit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767328"/>
            <a:ext cx="2423160" cy="31089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30" b="0">
                <a:solidFill>
                  <a:srgbClr val="0D121A"/>
                </a:solidFill>
                <a:latin typeface="Aptos"/>
              </a:rPr>
              <a:t>Wetterfeatures sind bereits vorgesehen und fachlich sinnvoll ergänzbar.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875520" cy="43891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2500" b="1">
                <a:solidFill>
                  <a:srgbClr val="0D121A"/>
                </a:solidFill>
                <a:latin typeface="Aptos"/>
              </a:rPr>
              <a:t>Was man kritisch sehen muss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0A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24128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5D6571"/>
                </a:solidFill>
                <a:latin typeface="Aptos"/>
              </a:rPr>
              <a:t>Grenzen und nächste Entwicklungsschritte.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572000" cy="749808"/>
          </a:xfrm>
          <a:prstGeom prst="roundRect">
            <a:avLst/>
          </a:prstGeom>
          <a:solidFill>
            <a:srgbClr val="FF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164592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E64E58"/>
                </a:solidFill>
                <a:latin typeface="Aptos"/>
              </a:rPr>
              <a:t>Keine echte Wetterprognose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463039"/>
            <a:ext cx="246888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0D121A"/>
                </a:solidFill>
                <a:latin typeface="Aptos"/>
              </a:rPr>
              <a:t>Ohne Globalstrahlung, Bewölkung und Temperatur bleibt PV fachlich begrenzt.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25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7607" y="1508760"/>
            <a:ext cx="164592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0A305B"/>
                </a:solidFill>
                <a:latin typeface="Aptos"/>
              </a:rPr>
              <a:t>Kleine Datenbasis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1463039"/>
            <a:ext cx="246888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0D121A"/>
                </a:solidFill>
                <a:latin typeface="Aptos"/>
              </a:rPr>
              <a:t>Ein kurzer Zeitraum reicht für einen Prototyp, aber nicht für robuste saisonale Aussagen.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1760"/>
            <a:ext cx="164592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0A305B"/>
                </a:solidFill>
                <a:latin typeface="Aptos"/>
              </a:rPr>
              <a:t>Kein operativer Einsatz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606040"/>
            <a:ext cx="246888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0D121A"/>
                </a:solidFill>
                <a:latin typeface="Aptos"/>
              </a:rPr>
              <a:t>Das System ist ein Demonstrations- und Forschungsprojekt.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468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7" y="2651760"/>
            <a:ext cx="164592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0A305B"/>
                </a:solidFill>
                <a:latin typeface="Aptos"/>
              </a:rPr>
              <a:t>Modellvergleich ist laufabhängig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606040"/>
            <a:ext cx="246888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0D121A"/>
                </a:solidFill>
                <a:latin typeface="Aptos"/>
              </a:rPr>
              <a:t>Ein einzelner Lauf ist kein allgemeiner Architekturbeweis.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94760"/>
            <a:ext cx="164592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0A305B"/>
                </a:solidFill>
                <a:latin typeface="Aptos"/>
              </a:rPr>
              <a:t>Unsicherheit muss kalibriert sein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39" y="3749040"/>
            <a:ext cx="246888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0D121A"/>
                </a:solidFill>
                <a:latin typeface="Aptos"/>
              </a:rPr>
              <a:t>Zu breite Intervalle decken viel ab, sind aber wenig informativ.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611880"/>
            <a:ext cx="4572000" cy="749808"/>
          </a:xfrm>
          <a:prstGeom prst="round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3794760"/>
            <a:ext cx="1645920" cy="23774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0A305B"/>
                </a:solidFill>
                <a:latin typeface="Aptos"/>
              </a:rPr>
              <a:t>Exogene Ereignisse fehlen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749040"/>
            <a:ext cx="246888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919" b="0">
                <a:solidFill>
                  <a:srgbClr val="0D121A"/>
                </a:solidFill>
                <a:latin typeface="Aptos"/>
              </a:rPr>
              <a:t>Feiertage, Marktverhalten oder Anlagenänderungen werden nicht explizit modelliert.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40233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/>
            <a:r>
              <a:rPr sz="780" b="1">
                <a:solidFill>
                  <a:srgbClr val="5D6571"/>
                </a:solidFill>
                <a:latin typeface="Aptos"/>
              </a:rPr>
              <a:t>Probabilistische Energiedatenvorhersage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32004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5D657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0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Vielen Dank für eure Aufmerksamkeit!</a:t>
            </a:r>
          </a:p>
        </p:txBody>
      </p:sp>
      <p:sp>
        <p:nvSpPr>
          <p:cNvPr id="3" name="Oval 2"/>
          <p:cNvSpPr/>
          <p:nvPr/>
        </p:nvSpPr>
        <p:spPr>
          <a:xfrm>
            <a:off x="5788152" y="267919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583680" y="297180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36378" y="3327418"/>
            <a:ext cx="226302" cy="22630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3474720"/>
            <a:ext cx="0" cy="3200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498839" y="3327418"/>
            <a:ext cx="226302" cy="22630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257800" y="2971800"/>
            <a:ext cx="3200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5498839" y="2389879"/>
            <a:ext cx="226302" cy="22630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0760" y="2148840"/>
            <a:ext cx="0" cy="32004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36378" y="2389879"/>
            <a:ext cx="226302" cy="22630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663440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65192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66944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68696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3952" y="41605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4024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7528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71032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2784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74536" y="43891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64607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66359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68112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9864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71616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73368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4617720"/>
            <a:ext cx="23774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Aptos"/>
              </a:rP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