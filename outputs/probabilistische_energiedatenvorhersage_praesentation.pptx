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dcd05534364938" /><Relationship Type="http://schemas.openxmlformats.org/officeDocument/2006/relationships/extended-properties" Target="/docProps/app.xml" Id="Re1049da4996249bd" /><Relationship Type="http://schemas.openxmlformats.org/officeDocument/2006/relationships/officeDocument" Target="/ppt/presentation.xml" Id="R0a5aa2e8ed024c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0306107ca9477f"/>
  </p:sldMasterIdLst>
  <p:notesMasterIdLst>
    <p:notesMasterId xmlns:r="http://schemas.openxmlformats.org/officeDocument/2006/relationships" r:id="R26a3311bbe6a49fd"/>
  </p:notesMasterIdLst>
  <p:sldIdLst>
    <p:sldId xmlns:r="http://schemas.openxmlformats.org/officeDocument/2006/relationships" id="256" r:id="R6cd8e0e3864e4414"/>
    <p:sldId xmlns:r="http://schemas.openxmlformats.org/officeDocument/2006/relationships" id="257" r:id="Rd5d3fe9ae8524c1d"/>
    <p:sldId xmlns:r="http://schemas.openxmlformats.org/officeDocument/2006/relationships" id="258" r:id="Rdea2f8019f804af1"/>
    <p:sldId xmlns:r="http://schemas.openxmlformats.org/officeDocument/2006/relationships" id="259" r:id="Rebaaf0cac71a41e6"/>
    <p:sldId xmlns:r="http://schemas.openxmlformats.org/officeDocument/2006/relationships" id="260" r:id="R41a61279a2b8445a"/>
    <p:sldId xmlns:r="http://schemas.openxmlformats.org/officeDocument/2006/relationships" id="261" r:id="R51384d5d7c1a4f40"/>
    <p:sldId xmlns:r="http://schemas.openxmlformats.org/officeDocument/2006/relationships" id="262" r:id="R63cd23fa8a644897"/>
    <p:sldId xmlns:r="http://schemas.openxmlformats.org/officeDocument/2006/relationships" id="263" r:id="R46e78eb320ec4dbd"/>
    <p:sldId xmlns:r="http://schemas.openxmlformats.org/officeDocument/2006/relationships" id="264" r:id="Rcadcad609ec14a76"/>
    <p:sldId xmlns:r="http://schemas.openxmlformats.org/officeDocument/2006/relationships" id="265" r:id="Rce54d6bb62c24550"/>
    <p:sldId xmlns:r="http://schemas.openxmlformats.org/officeDocument/2006/relationships" id="266" r:id="R15ee011a8bb74144"/>
    <p:sldId xmlns:r="http://schemas.openxmlformats.org/officeDocument/2006/relationships" id="267" r:id="R9002fc73402a407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43215576604ff1" /><Relationship Type="http://schemas.openxmlformats.org/officeDocument/2006/relationships/slideMaster" Target="/ppt/slideMasters/slideMaster1.xml" Id="Re30306107ca9477f" /><Relationship Type="http://schemas.openxmlformats.org/officeDocument/2006/relationships/notesMaster" Target="/ppt/notesMasters/notesMaster1.xml" Id="R26a3311bbe6a49fd" /><Relationship Type="http://schemas.openxmlformats.org/officeDocument/2006/relationships/presProps" Target="/ppt/presProps.xml" Id="Rb94aea3baf5e4f7a" /><Relationship Type="http://schemas.openxmlformats.org/officeDocument/2006/relationships/tableStyles" Target="/ppt/tableStyles.xml" Id="Rae76ed6d91704473" /><Relationship Type="http://schemas.openxmlformats.org/officeDocument/2006/relationships/slide" Target="/ppt/slides/slide1.xml" Id="R6cd8e0e3864e4414" /><Relationship Type="http://schemas.openxmlformats.org/officeDocument/2006/relationships/slide" Target="/ppt/slides/slide2.xml" Id="Rd5d3fe9ae8524c1d" /><Relationship Type="http://schemas.openxmlformats.org/officeDocument/2006/relationships/slide" Target="/ppt/slides/slide3.xml" Id="Rdea2f8019f804af1" /><Relationship Type="http://schemas.openxmlformats.org/officeDocument/2006/relationships/slide" Target="/ppt/slides/slide4.xml" Id="Rebaaf0cac71a41e6" /><Relationship Type="http://schemas.openxmlformats.org/officeDocument/2006/relationships/slide" Target="/ppt/slides/slide5.xml" Id="R41a61279a2b8445a" /><Relationship Type="http://schemas.openxmlformats.org/officeDocument/2006/relationships/slide" Target="/ppt/slides/slide6.xml" Id="R51384d5d7c1a4f40" /><Relationship Type="http://schemas.openxmlformats.org/officeDocument/2006/relationships/slide" Target="/ppt/slides/slide7.xml" Id="R63cd23fa8a644897" /><Relationship Type="http://schemas.openxmlformats.org/officeDocument/2006/relationships/slide" Target="/ppt/slides/slide8.xml" Id="R46e78eb320ec4dbd" /><Relationship Type="http://schemas.openxmlformats.org/officeDocument/2006/relationships/slide" Target="/ppt/slides/slide9.xml" Id="Rcadcad609ec14a76" /><Relationship Type="http://schemas.openxmlformats.org/officeDocument/2006/relationships/slide" Target="/ppt/slides/slide10.xml" Id="Rce54d6bb62c24550" /><Relationship Type="http://schemas.openxmlformats.org/officeDocument/2006/relationships/slide" Target="/ppt/slides/slide11.xml" Id="R15ee011a8bb74144" /><Relationship Type="http://schemas.openxmlformats.org/officeDocument/2006/relationships/slide" Target="/ppt/slides/slide12.xml" Id="R9002fc73402a40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1a9abdfa034a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9578191ffb4f46" /><Relationship Type="http://schemas.openxmlformats.org/officeDocument/2006/relationships/notesMaster" Target="/ppt/notesMasters/notesMaster1.xml" Id="Rc483c92b83bf47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5f0a040e32489d" /><Relationship Type="http://schemas.openxmlformats.org/officeDocument/2006/relationships/notesMaster" Target="/ppt/notesMasters/notesMaster1.xml" Id="Re0258602ddc346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86f329201147d6" /><Relationship Type="http://schemas.openxmlformats.org/officeDocument/2006/relationships/notesMaster" Target="/ppt/notesMasters/notesMaster1.xml" Id="R21e725571eeb4d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77a71ed7744531" /><Relationship Type="http://schemas.openxmlformats.org/officeDocument/2006/relationships/notesMaster" Target="/ppt/notesMasters/notesMaster1.xml" Id="R1c6e8fb7d2074e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95e58098054bc3" /><Relationship Type="http://schemas.openxmlformats.org/officeDocument/2006/relationships/notesMaster" Target="/ppt/notesMasters/notesMaster1.xml" Id="Re014e45254b542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76a7170fb348f8" /><Relationship Type="http://schemas.openxmlformats.org/officeDocument/2006/relationships/notesMaster" Target="/ppt/notesMasters/notesMaster1.xml" Id="Rfd9d3939e9fd42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4d01dd6b83492d" /><Relationship Type="http://schemas.openxmlformats.org/officeDocument/2006/relationships/notesMaster" Target="/ppt/notesMasters/notesMaster1.xml" Id="R1608253d1bee42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527c343e7047ff" /><Relationship Type="http://schemas.openxmlformats.org/officeDocument/2006/relationships/notesMaster" Target="/ppt/notesMasters/notesMaster1.xml" Id="Rc1e9c8aded7e46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23748e928e4961" /><Relationship Type="http://schemas.openxmlformats.org/officeDocument/2006/relationships/notesMaster" Target="/ppt/notesMasters/notesMaster1.xml" Id="Reb2cf2f286c84b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d2fb75485b4f50" /><Relationship Type="http://schemas.openxmlformats.org/officeDocument/2006/relationships/notesMaster" Target="/ppt/notesMasters/notesMaster1.xml" Id="R1bdaa4d426c14c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63de1efa6b4280" /><Relationship Type="http://schemas.openxmlformats.org/officeDocument/2006/relationships/notesMaster" Target="/ppt/notesMasters/notesMaster1.xml" Id="Red41d7f9fd4941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13ce7a56c8c43c7" /><Relationship Type="http://schemas.openxmlformats.org/officeDocument/2006/relationships/notesMaster" Target="/ppt/notesMasters/notesMaster1.xml" Id="Rdfdb61ccf96346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145964d21e4b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fd3228157a49c6" /><Relationship Type="http://schemas.openxmlformats.org/officeDocument/2006/relationships/slideLayout" Target="/ppt/slideLayouts/slideLayout1.xml" Id="R391437f2f2bb40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1437f2f2bb40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bee5359264e4b" /><Relationship Type="http://schemas.openxmlformats.org/officeDocument/2006/relationships/notesSlide" Target="/ppt/notesSlides/notesSlide1.xml" Id="R9eef0aa215bc43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507adf7ad44f4" /><Relationship Type="http://schemas.openxmlformats.org/officeDocument/2006/relationships/notesSlide" Target="/ppt/notesSlides/notesSlide2.xml" Id="R2393e7a98e694e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4d5a44d494176" /><Relationship Type="http://schemas.openxmlformats.org/officeDocument/2006/relationships/notesSlide" Target="/ppt/notesSlides/notesSlide3.xml" Id="Ra7f3f04c7a1748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e2ef5f806430f" /><Relationship Type="http://schemas.openxmlformats.org/officeDocument/2006/relationships/notesSlide" Target="/ppt/notesSlides/notesSlide4.xml" Id="R8efb0c6295654a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4bb26971d4bf3" /><Relationship Type="http://schemas.openxmlformats.org/officeDocument/2006/relationships/notesSlide" Target="/ppt/notesSlides/notesSlide5.xml" Id="R32cfd3d787a84c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6b57128414cc5" /><Relationship Type="http://schemas.openxmlformats.org/officeDocument/2006/relationships/image" Target="/ppt/media/image.png" Id="Rb1c34dfc9353484f" /><Relationship Type="http://schemas.openxmlformats.org/officeDocument/2006/relationships/notesSlide" Target="/ppt/notesSlides/notesSlide6.xml" Id="R542b5413e59c4d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9baa5e35e49fb" /><Relationship Type="http://schemas.openxmlformats.org/officeDocument/2006/relationships/notesSlide" Target="/ppt/notesSlides/notesSlide7.xml" Id="R8a0c69c403f24a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eefb508204dc4" /><Relationship Type="http://schemas.openxmlformats.org/officeDocument/2006/relationships/image" Target="/ppt/media/image2.png" Id="R67649b025ee44e1b" /><Relationship Type="http://schemas.openxmlformats.org/officeDocument/2006/relationships/notesSlide" Target="/ppt/notesSlides/notesSlide8.xml" Id="R410f35fdafff4a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b09da9d0241ff" /><Relationship Type="http://schemas.openxmlformats.org/officeDocument/2006/relationships/image" Target="/ppt/media/image3.png" Id="Rb5aad05df2fb4a02" /><Relationship Type="http://schemas.openxmlformats.org/officeDocument/2006/relationships/notesSlide" Target="/ppt/notesSlides/notesSlide9.xml" Id="R2d69227d725949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d1378cc99436c" /><Relationship Type="http://schemas.openxmlformats.org/officeDocument/2006/relationships/chart" Target="/ppt/slides/charts/chart1.xml" Id="R66e2a1c470684e5c" /><Relationship Type="http://schemas.openxmlformats.org/officeDocument/2006/relationships/notesSlide" Target="/ppt/notesSlides/notesSlide10.xml" Id="Rebd00d5699c448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bc518b37e4272" /><Relationship Type="http://schemas.openxmlformats.org/officeDocument/2006/relationships/image" Target="/ppt/media/image4.png" Id="R2f8df75ca2ea4791" /><Relationship Type="http://schemas.openxmlformats.org/officeDocument/2006/relationships/notesSlide" Target="/ppt/notesSlides/notesSlide11.xml" Id="R01455a54c7e4481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42bb9e9dd47e2" /><Relationship Type="http://schemas.openxmlformats.org/officeDocument/2006/relationships/notesSlide" Target="/ppt/notesSlides/notesSlide12.xml" Id="Rde1d28cfbefc441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LSTM</c:v>
          </c:tx>
          <c:spPr>
            <a:solidFill xmlns:a="http://schemas.openxmlformats.org/drawingml/2006/main">
              <a:srgbClr val="2563EB"/>
            </a:solidFill>
          </c:spPr>
          <c:dLbls/>
          <c:cat>
            <c:strLit>
              <c:ptCount val="2"/>
              <c:pt idx="0">
                <c:v>Median-RMSE</c:v>
              </c:pt>
              <c:pt idx="1">
                <c:v>Winkler Score</c:v>
              </c:pt>
            </c:strLit>
          </c:cat>
          <c:val>
            <c:numLit>
              <c:formatCode>General</c:formatCode>
              <c:ptCount val="2"/>
              <c:pt idx="0">
                <c:v>4906</c:v>
              </c:pt>
              <c:pt idx="1">
                <c:v>18838</c:v>
              </c:pt>
            </c:numLit>
          </c:val>
        </c:ser>
        <c:ser>
          <c:idx val="1"/>
          <c:order val="1"/>
          <c:tx>
            <c:v>RNN</c:v>
          </c:tx>
          <c:spPr>
            <a:solidFill xmlns:a="http://schemas.openxmlformats.org/drawingml/2006/main">
              <a:srgbClr val="1F7A4D"/>
            </a:solidFill>
          </c:spPr>
          <c:dLbls/>
          <c:cat>
            <c:strLit>
              <c:ptCount val="2"/>
              <c:pt idx="0">
                <c:v>Median-RMSE</c:v>
              </c:pt>
              <c:pt idx="1">
                <c:v>Winkler Score</c:v>
              </c:pt>
            </c:strLit>
          </c:cat>
          <c:val>
            <c:numLit>
              <c:formatCode>General</c:formatCode>
              <c:ptCount val="2"/>
              <c:pt idx="0">
                <c:v>1804</c:v>
              </c:pt>
              <c:pt idx="1">
                <c:v>6149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0B0F14"/>
                  </a:solidFill>
                </a:defRPr>
              </a:pPr>
            </a:p>
          </c:txPr>
          <c:dLblPos val="outEnd"/>
          <c:showVal val="1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CE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25866"/>
                    </a:solidFill>
                  </a:rPr>
                  <a:t>MWh / Score, niedriger ist besser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25866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58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0F14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0B0F14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8CFA2E-883B-4984-8D48-49AF79DC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59055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0">
                <a:solidFill>
                  <a:srgbClr val="0B0F14"/>
                </a:solidFill>
              </a:defRPr>
            </a:pPr>
            <a:r>
              <a:rPr sz="3750" b="0">
                <a:solidFill>
                  <a:srgbClr val="0B0F14"/>
                </a:solidFill>
              </a:rPr>
              <a:t>Probabilistische</a:t>
            </a:r>
          </a:p>
          <a:p xmlns:a="http://schemas.openxmlformats.org/drawingml/2006/main">
            <a:pPr algn="l">
              <a:defRPr sz="3750" b="0">
                <a:solidFill>
                  <a:srgbClr val="0B0F14"/>
                </a:solidFill>
              </a:defRPr>
            </a:pPr>
            <a:r>
              <a:rPr sz="3750" b="0">
                <a:solidFill>
                  <a:srgbClr val="0B0F14"/>
                </a:solidFill>
              </a:rPr>
              <a:t>Energiedaten-</a:t>
            </a:r>
          </a:p>
          <a:p xmlns:a="http://schemas.openxmlformats.org/drawingml/2006/main">
            <a:pPr algn="l">
              <a:defRPr sz="3750" b="0">
                <a:solidFill>
                  <a:srgbClr val="0B0F14"/>
                </a:solidFill>
              </a:defRPr>
            </a:pPr>
            <a:r>
              <a:rPr sz="3750" b="0">
                <a:solidFill>
                  <a:srgbClr val="0B0F14"/>
                </a:solidFill>
              </a:rPr>
              <a:t>vorhersage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D27432-4E92-47AB-9ED5-D3DD0E74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495550"/>
            <a:ext cx="5476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5866"/>
                </a:solidFill>
              </a:defRPr>
            </a:pPr>
            <a:r>
              <a:rPr sz="1800" b="0">
                <a:solidFill>
                  <a:srgbClr val="525866"/>
                </a:solidFill>
              </a:rPr>
              <a:t>Unsicherheit in Photovoltaik-Prognosen sichtbar machen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182F8-4F1B-414A-934A-6C1779F2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3D4D5-AC3C-4F20-A5E9-BC32F189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290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4"/>
                </a:solidFill>
              </a:defRPr>
            </a:pPr>
            <a:r>
              <a:rPr sz="1350" b="1">
                <a:solidFill>
                  <a:srgbClr val="0B0F14"/>
                </a:solidFill>
              </a:rPr>
              <a:t>Projektvorstellung für Universität und Kurs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0DBED1-DDD4-4840-A58F-39DB1EFE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481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6"/>
                </a:solidFill>
              </a:defRPr>
            </a:pPr>
            <a:r>
              <a:rPr sz="1350" b="0">
                <a:solidFill>
                  <a:srgbClr val="525866"/>
                </a:solidFill>
              </a:rPr>
              <a:t>SMARD-Marktdaten · LSTM/RNN · Quantilregression · Streamlit-Dashboard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1876E-E6ED-48F2-9BE3-4431E1B0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09600"/>
            <a:ext cx="466725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03E42-DB75-408D-8D96-4CFEA31E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81100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q0.1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9BA04-0974-49DF-B2CE-39E89683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33600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F14"/>
                </a:solidFill>
              </a:defRPr>
            </a:pPr>
            <a:r>
              <a:rPr sz="2250" b="1">
                <a:solidFill>
                  <a:srgbClr val="0B0F14"/>
                </a:solidFill>
              </a:rPr>
              <a:t>q0.5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6ED0E-A42A-451D-AF7A-B7BA7D6E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86100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7A4D"/>
                </a:solidFill>
              </a:defRPr>
            </a:pPr>
            <a:r>
              <a:rPr sz="2250" b="1">
                <a:solidFill>
                  <a:srgbClr val="1F7A4D"/>
                </a:solidFill>
              </a:rPr>
              <a:t>q0.9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1A8B54-FDA7-46DE-AF4E-AF62DDD7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2382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6"/>
                </a:solidFill>
              </a:defRPr>
            </a:pPr>
            <a:r>
              <a:rPr sz="1350" b="0">
                <a:solidFill>
                  <a:srgbClr val="525866"/>
                </a:solidFill>
              </a:rPr>
              <a:t>untere Grenze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F81977-D23F-4430-9B94-CE5B29C2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90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6"/>
                </a:solidFill>
              </a:defRPr>
            </a:pPr>
            <a:r>
              <a:rPr sz="1350" b="0">
                <a:solidFill>
                  <a:srgbClr val="525866"/>
                </a:solidFill>
              </a:rPr>
              <a:t>Median-Prognose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A3AEAD-B765-4C4C-AE96-A9EA4BAF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432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6"/>
                </a:solidFill>
              </a:defRPr>
            </a:pPr>
            <a:r>
              <a:rPr sz="1350" b="0">
                <a:solidFill>
                  <a:srgbClr val="525866"/>
                </a:solidFill>
              </a:rPr>
              <a:t>obere Grenze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E9B278-BCBA-45AC-B441-B739A876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6210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CD8E27-3413-4AD5-89B8-59991984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1460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solidFill>
              <a:srgbClr val="0B0F1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064898-ACF0-486B-8B92-B9F5381D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6710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1F7A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A59281-6673-4A7D-8586-38CC5B3A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72125"/>
            <a:ext cx="121920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480CB0-C12C-40D1-BB7E-FEE21BC1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67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4"/>
                </a:solidFill>
              </a:defRPr>
            </a:pPr>
            <a:r>
              <a:rPr sz="1350" b="1">
                <a:solidFill>
                  <a:srgbClr val="0B0F14"/>
                </a:solidFill>
              </a:rPr>
              <a:t>Zentrale Idee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773AAA-04BF-43DF-89DF-590F273F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91200"/>
            <a:ext cx="785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F14"/>
                </a:solidFill>
              </a:defRPr>
            </a:pPr>
            <a:r>
              <a:rPr sz="1650" b="0">
                <a:solidFill>
                  <a:srgbClr val="0B0F14"/>
                </a:solidFill>
              </a:rPr>
              <a:t>Das Modell soll nicht nur einen Wert schätzen, sondern zeigen, wie breit der plausible Prognosebereich ist.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71C0A6-C486-4511-9594-9EFF9658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5866"/>
                </a:solidFill>
              </a:defRPr>
            </a:pPr>
            <a:r>
              <a:rPr sz="900" b="1">
                <a:solidFill>
                  <a:srgbClr val="525866"/>
                </a:solidFill>
              </a:rPr>
              <a:t>Probabilistische Energiedatenvorhersage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DA0B61-6693-4008-B3A7-39350C9E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5866"/>
                </a:solidFill>
              </a:defRPr>
            </a:pPr>
            <a:r>
              <a:rPr sz="900" b="1">
                <a:solidFill>
                  <a:srgbClr val="525866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506602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0D65A8-FC2A-4032-9251-CEAE415F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5866"/>
                </a:solidFill>
              </a:defRPr>
            </a:pPr>
            <a:r>
              <a:rPr sz="1050" b="1">
                <a:solidFill>
                  <a:srgbClr val="525866"/>
                </a:solidFill>
              </a:rPr>
              <a:t>AUSGANGSPUNKT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CE98C-1D0E-4709-8248-C75079DC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B0F14"/>
                </a:solidFill>
              </a:defRPr>
            </a:pPr>
            <a:r>
              <a:rPr sz="3000" b="0">
                <a:solidFill>
                  <a:srgbClr val="0B0F14"/>
                </a:solidFill>
              </a:rPr>
              <a:t>Photovoltaik braucht keine exakte Antwort, sondern einen belastbaren Bereich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1F0EA-96C5-4652-A111-337C2554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0A761-4A6F-47E8-9D30-FEB798DF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0F966-9829-49E6-8CCC-D9E5AD88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FF6B35"/>
                </a:solidFill>
              </a:defRPr>
            </a:pPr>
            <a:r>
              <a:rPr sz="3150" b="0">
                <a:solidFill>
                  <a:srgbClr val="FF6B35"/>
                </a:solidFill>
              </a:rPr>
              <a:t>stark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EB359-E801-43AB-91D2-43116C61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051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4"/>
                </a:solidFill>
              </a:defRPr>
            </a:pPr>
            <a:r>
              <a:rPr sz="1350" b="1">
                <a:solidFill>
                  <a:srgbClr val="0B0F14"/>
                </a:solidFill>
              </a:rPr>
              <a:t>Volatilität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2B8DA-EC73-424B-B281-4E6264E4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2876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6"/>
                </a:solidFill>
              </a:defRPr>
            </a:pPr>
            <a:r>
              <a:rPr sz="1200" b="0">
                <a:solidFill>
                  <a:srgbClr val="525866"/>
                </a:solidFill>
              </a:rPr>
              <a:t>PV-Erzeugung folgt Tagesgang, Jahreszeit und Wetter. Einzelne Punktwerte unterschätzen diese Unsicherheit.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1FE80-EFD6-44E2-A3D2-B4A915B9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002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9E962-9E4E-40CE-BF38-33E72A65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098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B42318"/>
                </a:solidFill>
              </a:defRPr>
            </a:pPr>
            <a:r>
              <a:rPr sz="3150" b="0">
                <a:solidFill>
                  <a:srgbClr val="B42318"/>
                </a:solidFill>
              </a:rPr>
              <a:t>riskant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15FC93-2406-4110-B61D-769833BE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9051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4"/>
                </a:solidFill>
              </a:defRPr>
            </a:pPr>
            <a:r>
              <a:rPr sz="1350" b="1">
                <a:solidFill>
                  <a:srgbClr val="0B0F14"/>
                </a:solidFill>
              </a:rPr>
              <a:t>Planung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E24124-DB6C-486B-B9FD-9859AB0F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57550"/>
            <a:ext cx="2876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6"/>
                </a:solidFill>
              </a:defRPr>
            </a:pPr>
            <a:r>
              <a:rPr sz="1200" b="0">
                <a:solidFill>
                  <a:srgbClr val="525866"/>
                </a:solidFill>
              </a:rPr>
              <a:t>Bei Abweichungen müssen Netz und Markt kurzfristig reagieren. Relevant ist daher nicht nur der Mittelwert.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94A9D7-1ED5-463B-9CF1-0A1D5C67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002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E4F5F3-4C32-4478-8451-CB22B17A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F7A4D"/>
                </a:solidFill>
              </a:defRPr>
            </a:pPr>
            <a:r>
              <a:rPr sz="3150" b="0">
                <a:solidFill>
                  <a:srgbClr val="1F7A4D"/>
                </a:solidFill>
              </a:rPr>
              <a:t>80%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B1FD41-0791-4E25-941E-8929DEE4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051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4"/>
                </a:solidFill>
              </a:defRPr>
            </a:pPr>
            <a:r>
              <a:rPr sz="1350" b="1">
                <a:solidFill>
                  <a:srgbClr val="0B0F14"/>
                </a:solidFill>
              </a:rPr>
              <a:t>Intervall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A9EA4E-D66B-425E-A2E8-0595BEDC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57550"/>
            <a:ext cx="2876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6"/>
                </a:solidFill>
              </a:defRPr>
            </a:pPr>
            <a:r>
              <a:rPr sz="1200" b="0">
                <a:solidFill>
                  <a:srgbClr val="525866"/>
                </a:solidFill>
              </a:rPr>
              <a:t>Ein Unsicherheitsband macht sichtbar, in welchem Bereich echte Werte statistisch erwartet werden.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C37074-A9AB-400E-98E5-E446681C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</a:defRPr>
            </a:pPr>
            <a:r>
              <a:rPr sz="1650" b="1">
                <a:solidFill>
                  <a:srgbClr val="0B0F14"/>
                </a:solidFill>
              </a:rPr>
              <a:t>Kommunikationsziel der Prognose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48E510-05C7-4C76-ABDD-CF476392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816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0F14"/>
                </a:solidFill>
              </a:defRPr>
            </a:pPr>
            <a:r>
              <a:rPr sz="1800" b="0">
                <a:solidFill>
                  <a:srgbClr val="0B0F14"/>
                </a:solidFill>
              </a:rPr>
              <a:t>Aus „Die PV-Erzeugung liegt morgen bei X“ wird „Die PV-Erzeugung liegt wahrscheinlich zwischen unterer und oberer Grenze; der Median ist unsere zentrale Schätzung“.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6AED1E-1ED4-4F75-8B68-D3BD6B11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5866"/>
                </a:solidFill>
              </a:defRPr>
            </a:pPr>
            <a:r>
              <a:rPr sz="900" b="1">
                <a:solidFill>
                  <a:srgbClr val="525866"/>
                </a:solidFill>
              </a:rPr>
              <a:t>Probabilistische Energiedatenvorhersage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6366A1-4443-4925-8E9D-EF2FE1CC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5866"/>
                </a:solidFill>
              </a:defRPr>
            </a:pPr>
            <a:r>
              <a:rPr sz="900" b="1">
                <a:solidFill>
                  <a:srgbClr val="525866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689975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91F81D-DD4D-4DD0-A005-0710DB3D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5866"/>
                </a:solidFill>
              </a:defRPr>
            </a:pPr>
            <a:r>
              <a:rPr sz="1050" b="1">
                <a:solidFill>
                  <a:srgbClr val="525866"/>
                </a:solidFill>
              </a:rPr>
              <a:t>SYSTEMÜBERBLICK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EADC8D-089F-40AF-9F45-E15202AC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B0F14"/>
                </a:solidFill>
              </a:defRPr>
            </a:pPr>
            <a:r>
              <a:rPr sz="3000" b="0">
                <a:solidFill>
                  <a:srgbClr val="0B0F14"/>
                </a:solidFill>
              </a:rPr>
              <a:t>Die Pipeline führt von Rohdaten zu erklärbaren Prognoseergebnissen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FEF9B-4C64-4252-83F3-BC8891F5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47F209-B836-4D00-AAE0-74FC18BF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2095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86063-42AB-43DF-B087-6B4CBAE2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1932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E0C5A-D33B-4882-8E31-42F0C246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0275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</a:defRPr>
            </a:pPr>
            <a:r>
              <a:rPr sz="1500" b="1">
                <a:solidFill>
                  <a:srgbClr val="0B0F14"/>
                </a:solidFill>
              </a:rPr>
              <a:t>SMARD-CSV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A2C938-94E0-4673-840E-7FCEA567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752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6"/>
                </a:solidFill>
              </a:defRPr>
            </a:pPr>
            <a:r>
              <a:rPr sz="1200" b="0">
                <a:solidFill>
                  <a:srgbClr val="525866"/>
                </a:solidFill>
              </a:rPr>
              <a:t>Upload der Energiedaten, Parsing deutscher Zahlenformate und Zeitstempel.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91470A-86CD-4584-9FAE-E8CB6D92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47875"/>
            <a:ext cx="2095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356DA4-8297-432E-8D20-177DB322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1932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8BF534-5BA7-46CC-AA79-CE490827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00275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</a:defRPr>
            </a:pPr>
            <a:r>
              <a:rPr sz="1500" b="1">
                <a:solidFill>
                  <a:srgbClr val="0B0F14"/>
                </a:solidFill>
              </a:rPr>
              <a:t>EDA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F19BAF-5C6C-48D5-8F9D-D4CB0705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38425"/>
            <a:ext cx="1752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6"/>
                </a:solidFill>
              </a:defRPr>
            </a:pPr>
            <a:r>
              <a:rPr sz="1200" b="0">
                <a:solidFill>
                  <a:srgbClr val="525866"/>
                </a:solidFill>
              </a:rPr>
              <a:t>Zeitverlauf, Tagesprofil und Korrelationssicht machen die Datenstruktur sichtbar.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92F025-B374-4919-95BE-469B8D5F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47875"/>
            <a:ext cx="2095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F6CBAD-5253-48C1-BB77-283C372A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1932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7A4D"/>
                </a:solidFill>
              </a:defRPr>
            </a:pPr>
            <a:r>
              <a:rPr sz="1800" b="1">
                <a:solidFill>
                  <a:srgbClr val="1F7A4D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9D23C1-D115-40AF-91FE-E273A547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00275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</a:defRPr>
            </a:pPr>
            <a:r>
              <a:rPr sz="1500" b="1">
                <a:solidFill>
                  <a:srgbClr val="0B0F14"/>
                </a:solidFill>
              </a:rPr>
              <a:t>Features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813A95-60D8-4923-B226-15B7C398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38425"/>
            <a:ext cx="1752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6"/>
                </a:solidFill>
              </a:defRPr>
            </a:pPr>
            <a:r>
              <a:rPr sz="1200" b="0">
                <a:solidFill>
                  <a:srgbClr val="525866"/>
                </a:solidFill>
              </a:rPr>
              <a:t>PV-Historie, zyklische Zeitfeatures, Wochenende, Wind Onshore und Erdgas.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C9F319-527B-4432-8541-ED5C4CAB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47875"/>
            <a:ext cx="2095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93802A-BDD4-45C2-89EF-2E0E89B6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1932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4"/>
                </a:solidFill>
              </a:defRPr>
            </a:pPr>
            <a:r>
              <a:rPr sz="1800" b="1">
                <a:solidFill>
                  <a:srgbClr val="0B0F14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149A47-13B6-4CAC-9C4F-4095349C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00275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</a:defRPr>
            </a:pPr>
            <a:r>
              <a:rPr sz="1500" b="1">
                <a:solidFill>
                  <a:srgbClr val="0B0F14"/>
                </a:solidFill>
              </a:rPr>
              <a:t>Training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4F223A-1F9F-495F-AA1D-4455A7FB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38425"/>
            <a:ext cx="1752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6"/>
                </a:solidFill>
              </a:defRPr>
            </a:pPr>
            <a:r>
              <a:rPr sz="1200" b="0">
                <a:solidFill>
                  <a:srgbClr val="525866"/>
                </a:solidFill>
              </a:rPr>
              <a:t>LSTM und RNN lernen q0.1, q0.5 und q0.9 mit Pinball Loss.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B20C1F-C07C-4B02-B942-29A18172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47875"/>
            <a:ext cx="20193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2A11B5-3255-4185-B409-AA2AF1FD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1932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FFA4DB-7954-4469-B69D-76195242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2002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</a:defRPr>
            </a:pPr>
            <a:r>
              <a:rPr sz="1500" b="1">
                <a:solidFill>
                  <a:srgbClr val="0B0F14"/>
                </a:solidFill>
              </a:rPr>
              <a:t>Dashboard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4597FD-C8B3-4B84-B71E-5BDA073C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38425"/>
            <a:ext cx="1676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6"/>
                </a:solidFill>
              </a:defRPr>
            </a:pPr>
            <a:r>
              <a:rPr sz="1200" b="0">
                <a:solidFill>
                  <a:srgbClr val="525866"/>
                </a:solidFill>
              </a:rPr>
              <a:t>Metriken, Plots, Dateien und regelbasierte Einordnung werden direkt angezeigt.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F1699C-9888-428D-9CDB-6F8A5035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113919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4F509D-F8CD-472D-9FAA-9EEA43AD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4"/>
                </a:solidFill>
              </a:defRPr>
            </a:pPr>
            <a:r>
              <a:rPr sz="1800" b="1">
                <a:solidFill>
                  <a:srgbClr val="0B0F14"/>
                </a:solidFill>
              </a:rPr>
              <a:t>Warum diese Struktur wichtig ist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1B81BF-C1F9-4729-8C80-B13E97A8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629150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F14"/>
                </a:solidFill>
              </a:defRPr>
            </a:pPr>
            <a:r>
              <a:rPr sz="1650" b="0">
                <a:solidFill>
                  <a:srgbClr val="0B0F14"/>
                </a:solidFill>
              </a:rPr>
              <a:t>Das Projekt zeigt nicht nur ein trainiertes Modell, sondern den vollständigen Workflow: Datenqualität prüfen, methodisch sauber splitten, probabilistisch trainieren, kritisch bewerten und Ergebnisse verständlich präsentieren.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892D5C-6CF4-411D-A530-BCCA160E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5866"/>
                </a:solidFill>
              </a:defRPr>
            </a:pPr>
            <a:r>
              <a:rPr sz="900" b="1">
                <a:solidFill>
                  <a:srgbClr val="525866"/>
                </a:solidFill>
              </a:rPr>
              <a:t>Probabilistische Energiedatenvorhersage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F890E5-97DC-42D6-AD4E-A8088E16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5866"/>
                </a:solidFill>
              </a:defRPr>
            </a:pPr>
            <a:r>
              <a:rPr sz="900" b="1">
                <a:solidFill>
                  <a:srgbClr val="525866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958110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2BA253-F929-4429-BF84-DF2E6F2B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5866"/>
                </a:solidFill>
              </a:defRPr>
            </a:pPr>
            <a:r>
              <a:rPr sz="1050" b="1">
                <a:solidFill>
                  <a:srgbClr val="525866"/>
                </a:solidFill>
              </a:rPr>
              <a:t>METHODIK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99DFF1-2170-4445-AD7E-89B4F126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B0F14"/>
                </a:solidFill>
              </a:defRPr>
            </a:pPr>
            <a:r>
              <a:rPr sz="3000" b="0">
                <a:solidFill>
                  <a:srgbClr val="0B0F14"/>
                </a:solidFill>
              </a:rPr>
              <a:t>Die wichtigste methodische Absicherung ist der chronologische Split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22C07-8665-4F4B-996A-282D954E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10D96-49A6-4947-BA28-29F43D44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533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B0F14"/>
                </a:solidFill>
              </a:defRPr>
            </a:pPr>
            <a:r>
              <a:rPr sz="1875" b="0">
                <a:solidFill>
                  <a:srgbClr val="0B0F14"/>
                </a:solidFill>
              </a:rPr>
              <a:t>Zeitreihen dürfen nicht zufällig gemischt werden. Sonst lernt das Modell indirekt Informationen aus der Zukunft.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3A629-8741-4618-8B68-EED538BE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05125"/>
            <a:ext cx="533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7A4D"/>
                </a:solidFill>
              </a:defRPr>
            </a:pPr>
            <a:r>
              <a:rPr sz="1800" b="1">
                <a:solidFill>
                  <a:srgbClr val="1F7A4D"/>
                </a:solidFill>
              </a:rPr>
              <a:t>Deshalb wird zuerst zeitlich getrennt und erst danach der Scaler nur auf Trainingsdaten gefittet.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B26A32-27D7-4948-9FC0-028D2898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52197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D7526A-5672-435D-BD04-2B2E0E50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81300"/>
            <a:ext cx="2714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1F7A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C69BD3-996C-47AB-8E6A-126A889D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81300"/>
            <a:ext cx="304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B9C5DF-0018-4FE2-82A5-FF31B85F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81300"/>
            <a:ext cx="7524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B14290-EB5D-438B-BB72-24DB11BB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43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7A4D"/>
                </a:solidFill>
              </a:defRPr>
            </a:pPr>
            <a:r>
              <a:rPr sz="1500" b="1">
                <a:solidFill>
                  <a:srgbClr val="1F7A4D"/>
                </a:solidFill>
              </a:rPr>
              <a:t>Train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EBD063-BF47-433B-8E08-DCFA8593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6"/>
                </a:solidFill>
              </a:defRPr>
            </a:pPr>
            <a:r>
              <a:rPr sz="1350" b="0">
                <a:solidFill>
                  <a:srgbClr val="525866"/>
                </a:solidFill>
              </a:rPr>
              <a:t>173 Sequenzen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7D7474-CE93-4C71-86B3-DAF7DE30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431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D6FE0C-5640-4E65-9127-58B6F62C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6"/>
                </a:solidFill>
              </a:defRPr>
            </a:pPr>
            <a:r>
              <a:rPr sz="1350" b="0">
                <a:solidFill>
                  <a:srgbClr val="525866"/>
                </a:solidFill>
              </a:rPr>
              <a:t>19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9CDB07-1442-45A3-ABC7-D7C9B495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43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8A0A91-A5A7-4012-ABBA-D997DAA3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337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6"/>
                </a:solidFill>
              </a:defRPr>
            </a:pPr>
            <a:r>
              <a:rPr sz="1350" b="0">
                <a:solidFill>
                  <a:srgbClr val="525866"/>
                </a:solidFill>
              </a:rPr>
              <a:t>48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A65A16-EA32-44E7-A9F3-80B03648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576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4"/>
                </a:solidFill>
              </a:defRPr>
            </a:pPr>
            <a:r>
              <a:rPr sz="1350" b="1">
                <a:solidFill>
                  <a:srgbClr val="0B0F14"/>
                </a:solidFill>
              </a:rPr>
              <a:t>24h-Fenster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BA27FF-06B0-4D9F-9508-F2CFC94E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243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6"/>
                </a:solidFill>
              </a:defRPr>
            </a:pPr>
            <a:r>
              <a:rPr sz="1200" b="0">
                <a:solidFill>
                  <a:srgbClr val="525866"/>
                </a:solidFill>
              </a:rPr>
              <a:t>Jede Vorhersage nutzt die vergangenen 24 Stunden.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E30029-F364-4BA1-B7A9-DCD7576D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113919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D73AF-9673-47C5-B512-D1A9DDFD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</a:defRPr>
            </a:pPr>
            <a:r>
              <a:rPr sz="1650" b="1">
                <a:solidFill>
                  <a:srgbClr val="0B0F14"/>
                </a:solidFill>
              </a:rPr>
              <a:t>Ergebnis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5E795B-CA99-45C3-A953-341CC487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8196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F14"/>
                </a:solidFill>
              </a:defRPr>
            </a:pPr>
            <a:r>
              <a:rPr sz="1650" b="0">
                <a:solidFill>
                  <a:srgbClr val="0B0F14"/>
                </a:solidFill>
              </a:rPr>
              <a:t>Die Testmetriken bewerten echte Zukunftsdaten relativ zum Training. Das macht die Ergebnisse methodisch belastbarer.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9DE35E-79DB-47C6-9BB1-475ACED9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5866"/>
                </a:solidFill>
              </a:defRPr>
            </a:pPr>
            <a:r>
              <a:rPr sz="900" b="1">
                <a:solidFill>
                  <a:srgbClr val="525866"/>
                </a:solidFill>
              </a:rPr>
              <a:t>Probabilistische Energiedatenvorhersage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B2AD3E-1B93-4A8F-B36A-20D58860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5866"/>
                </a:solidFill>
              </a:defRPr>
            </a:pPr>
            <a:r>
              <a:rPr sz="900" b="1">
                <a:solidFill>
                  <a:srgbClr val="525866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612874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DC871F-E732-4CEA-B409-5D83FB55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5866"/>
                </a:solidFill>
              </a:defRPr>
            </a:pPr>
            <a:r>
              <a:rPr sz="1050" b="1">
                <a:solidFill>
                  <a:srgbClr val="525866"/>
                </a:solidFill>
              </a:rPr>
              <a:t>MODELLIDEE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17F82-4D7E-44E1-B216-2ECE5E4C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B0F14"/>
                </a:solidFill>
              </a:defRPr>
            </a:pPr>
            <a:r>
              <a:rPr sz="3000" b="0">
                <a:solidFill>
                  <a:srgbClr val="0B0F14"/>
                </a:solidFill>
              </a:rPr>
              <a:t>Quantile machen aus einem Punktwert eine kalibrierbare Prognose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05592-963F-46B1-9934-CFB16D26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23A7D-D1B8-4772-B348-656D119F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143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30852-21C8-437F-95E2-46EF3693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7A4D"/>
                </a:solidFill>
              </a:defRPr>
            </a:pPr>
            <a:r>
              <a:rPr sz="1950" b="1">
                <a:solidFill>
                  <a:srgbClr val="1F7A4D"/>
                </a:solidFill>
              </a:rPr>
              <a:t>q0.9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7407B2-E9D2-4AF4-AE18-763B549F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81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F14"/>
                </a:solidFill>
              </a:defRPr>
            </a:pPr>
            <a:r>
              <a:rPr sz="1650" b="0">
                <a:solidFill>
                  <a:srgbClr val="0B0F14"/>
                </a:solidFill>
              </a:rPr>
              <a:t>obere Grenze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72420-60E1-418D-B517-95CAC5E8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F14"/>
                </a:solidFill>
              </a:defRPr>
            </a:pPr>
            <a:r>
              <a:rPr sz="1950" b="1">
                <a:solidFill>
                  <a:srgbClr val="0B0F14"/>
                </a:solidFill>
              </a:rPr>
              <a:t>q0.5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1F665-E30A-46D6-BF7C-68EBBE5B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670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F14"/>
                </a:solidFill>
              </a:defRPr>
            </a:pPr>
            <a:r>
              <a:rPr sz="1650" b="0">
                <a:solidFill>
                  <a:srgbClr val="0B0F14"/>
                </a:solidFill>
              </a:rPr>
              <a:t>Median-Prognose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CBCD31-58E3-4BD0-A636-4DFB90F3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q0.1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00A623-F1B3-4021-8C37-72AADF84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529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F14"/>
                </a:solidFill>
              </a:defRPr>
            </a:pPr>
            <a:r>
              <a:rPr sz="1650" b="0">
                <a:solidFill>
                  <a:srgbClr val="0B0F14"/>
                </a:solidFill>
              </a:rPr>
              <a:t>untere Grenze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12C9F8-FFD0-447F-9BFB-5B9F2AE8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53365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1F7A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97AB03-8C1C-4399-A379-5D0E69C8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4290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solidFill>
              <a:srgbClr val="0B0F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9F23CE-28AA-4AA9-8578-0B935438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31482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31A1F4-D5F2-459C-8702-D6BA11FD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12097B-B4EF-4639-8515-4F5371DB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90750"/>
            <a:ext cx="4724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F14"/>
                </a:solidFill>
              </a:defRPr>
            </a:pPr>
            <a:r>
              <a:rPr sz="1575" b="0">
                <a:solidFill>
                  <a:srgbClr val="0B0F14"/>
                </a:solidFill>
              </a:rPr>
              <a:t>Pinball Loss bewertet jedes Quantil passend zu seinem Niveau.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7F0C4F-D1A8-4CFF-A880-276B0A8D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67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1F7A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31CD82-2BFB-498C-A653-5E605DBF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0850"/>
            <a:ext cx="4724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F14"/>
                </a:solidFill>
              </a:defRPr>
            </a:pPr>
            <a:r>
              <a:rPr sz="1575" b="0">
                <a:solidFill>
                  <a:srgbClr val="0B0F14"/>
                </a:solidFill>
              </a:rPr>
              <a:t>q0.1 bis q0.9 bilden ein nominelles 80%-Intervall.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2E7BAD-547A-4039-AC1E-28DB5DA7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67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5A5568-6CD5-4DCB-A512-E791AA1D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90950"/>
            <a:ext cx="4724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F14"/>
                </a:solidFill>
              </a:defRPr>
            </a:pPr>
            <a:r>
              <a:rPr sz="1575" b="0">
                <a:solidFill>
                  <a:srgbClr val="0B0F14"/>
                </a:solidFill>
              </a:rPr>
              <a:t>Crossing-Penalty und Sortierung sichern q0.1 &lt;= q0.5 &lt;= q0.9.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ED80A3-6037-46DA-A6EF-C61D4941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</a:defRPr>
            </a:pPr>
            <a:r>
              <a:rPr sz="1650" b="1">
                <a:solidFill>
                  <a:srgbClr val="0B0F14"/>
                </a:solidFill>
              </a:rPr>
              <a:t>Das Modell wird also nicht nur an Nähe zum echten Wert gemessen, sondern daran, ob seine Unsicherheit statistisch sinnvoll ist.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371491-58AF-4B8D-87F6-571B0A27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5866"/>
                </a:solidFill>
              </a:defRPr>
            </a:pPr>
            <a:r>
              <a:rPr sz="900" b="1">
                <a:solidFill>
                  <a:srgbClr val="525866"/>
                </a:solidFill>
              </a:rPr>
              <a:t>Probabilistische Energiedatenvorhersage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210ACE-06CE-4D28-B2D5-E01FEA71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5866"/>
                </a:solidFill>
              </a:defRPr>
            </a:pPr>
            <a:r>
              <a:rPr sz="900" b="1">
                <a:solidFill>
                  <a:srgbClr val="525866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493342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5D028B-CF7F-4734-AB1D-C62FFEB0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5866"/>
                </a:solidFill>
              </a:defRPr>
            </a:pPr>
            <a:r>
              <a:rPr sz="1050" b="1">
                <a:solidFill>
                  <a:srgbClr val="525866"/>
                </a:solidFill>
              </a:rPr>
              <a:t>DATENBASIS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0D948-7602-41B7-9E50-79A95AC3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B0F14"/>
                </a:solidFill>
              </a:defRPr>
            </a:pPr>
            <a:r>
              <a:rPr sz="3000" b="0">
                <a:solidFill>
                  <a:srgbClr val="0B0F14"/>
                </a:solidFill>
              </a:rPr>
              <a:t>Die Daten zeigen starke Tagesmuster und fehlende Wetterinformation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2C8B3-3246-4A38-BCBB-559012F7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272BA-54BA-44B7-ADFA-83693D44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429250" cy="3667125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c34dfc9353484f"/>
          <a:stretch xmlns:a="http://schemas.openxmlformats.org/drawingml/2006/main"/>
        </p:blipFill>
        <p:spPr>
          <a:xfrm xmlns:a="http://schemas.openxmlformats.org/drawingml/2006/main">
            <a:off x="796925" y="1905000"/>
            <a:ext cx="4635500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FFAA2E-8764-4022-9EC5-DBFA4C5F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0500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FE56D-9113-4B1A-BF83-F0F7E248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114550"/>
            <a:ext cx="1924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B0F14"/>
                </a:solidFill>
              </a:defRPr>
            </a:pPr>
            <a:r>
              <a:rPr sz="3150" b="0">
                <a:solidFill>
                  <a:srgbClr val="0B0F14"/>
                </a:solidFill>
              </a:rPr>
              <a:t>264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99340-EBC4-4889-B1EE-553CF449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809875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4"/>
                </a:solidFill>
              </a:defRPr>
            </a:pPr>
            <a:r>
              <a:rPr sz="1350" b="1">
                <a:solidFill>
                  <a:srgbClr val="0B0F14"/>
                </a:solidFill>
              </a:rPr>
              <a:t>Stundenwerte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4A7C57-299D-40F7-A630-FC14716D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162300"/>
            <a:ext cx="1924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6"/>
                </a:solidFill>
              </a:defRPr>
            </a:pPr>
            <a:r>
              <a:rPr sz="1200" b="0">
                <a:solidFill>
                  <a:srgbClr val="525866"/>
                </a:solidFill>
              </a:rPr>
              <a:t>April-Ausschnitt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B00647-AA21-4F34-82DF-11FC7DD2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0500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4B6B55-6718-4E2A-847C-00B2D5E5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114550"/>
            <a:ext cx="1924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B0F14"/>
                </a:solidFill>
              </a:defRPr>
            </a:pPr>
            <a:r>
              <a:rPr sz="3150" b="0">
                <a:solidFill>
                  <a:srgbClr val="0B0F14"/>
                </a:solidFill>
              </a:rPr>
              <a:t>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E37745-8E72-4C16-8808-1D76D387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809875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4"/>
                </a:solidFill>
              </a:defRPr>
            </a:pPr>
            <a:r>
              <a:rPr sz="1350" b="1">
                <a:solidFill>
                  <a:srgbClr val="0B0F14"/>
                </a:solidFill>
              </a:rPr>
              <a:t>Features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EEECEB-B99E-4D31-8584-BD0758BB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162300"/>
            <a:ext cx="1924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6"/>
                </a:solidFill>
              </a:defRPr>
            </a:pPr>
            <a:r>
              <a:rPr sz="1200" b="0">
                <a:solidFill>
                  <a:srgbClr val="525866"/>
                </a:solidFill>
              </a:rPr>
              <a:t>PV, Zeit, Wind, Erdgas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278A1C-0D6B-4A16-8A8D-AF2947CA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3380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72B979-8D1C-41C1-8CE8-6F7A7CF0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943350"/>
            <a:ext cx="1924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B0F14"/>
                </a:solidFill>
              </a:defRPr>
            </a:pPr>
            <a:r>
              <a:rPr sz="3150" b="0">
                <a:solidFill>
                  <a:srgbClr val="0B0F14"/>
                </a:solidFill>
              </a:rPr>
              <a:t>24h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0B8A1F-38F5-4502-A193-2D0D5054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638675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4"/>
                </a:solidFill>
              </a:defRPr>
            </a:pPr>
            <a:r>
              <a:rPr sz="1350" b="1">
                <a:solidFill>
                  <a:srgbClr val="0B0F14"/>
                </a:solidFill>
              </a:rPr>
              <a:t>Fenster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40DD5B-8C93-4CB3-9695-B43CD534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991100"/>
            <a:ext cx="1924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6"/>
                </a:solidFill>
              </a:defRPr>
            </a:pPr>
            <a:r>
              <a:rPr sz="1200" b="0">
                <a:solidFill>
                  <a:srgbClr val="525866"/>
                </a:solidFill>
              </a:rPr>
              <a:t>Vergangener Tag als Sequenz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25C9EC-1E28-451E-A556-22B23CD6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73380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F17A21-0017-4F0B-A4E7-B67236B9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943350"/>
            <a:ext cx="1924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B42318"/>
                </a:solidFill>
              </a:defRPr>
            </a:pPr>
            <a:r>
              <a:rPr sz="3150" b="0">
                <a:solidFill>
                  <a:srgbClr val="B42318"/>
                </a:solidFill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6670AA-1C29-4EA1-95DB-41AF1548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638675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4"/>
                </a:solidFill>
              </a:defRPr>
            </a:pPr>
            <a:r>
              <a:rPr sz="1350" b="1">
                <a:solidFill>
                  <a:srgbClr val="0B0F14"/>
                </a:solidFill>
              </a:rPr>
              <a:t>Wetterfeatures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C89329-5D1F-48CB-ADCC-4A1C2BE8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991100"/>
            <a:ext cx="1924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6"/>
                </a:solidFill>
              </a:defRPr>
            </a:pPr>
            <a:r>
              <a:rPr sz="1200" b="0">
                <a:solidFill>
                  <a:srgbClr val="525866"/>
                </a:solidFill>
              </a:rPr>
              <a:t>Größter fachlicher Ausbaupunkt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14FA8A-D624-42E2-BE2F-C072A429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5866"/>
                </a:solidFill>
              </a:defRPr>
            </a:pPr>
            <a:r>
              <a:rPr sz="900" b="1">
                <a:solidFill>
                  <a:srgbClr val="525866"/>
                </a:solidFill>
              </a:rPr>
              <a:t>Probabilistische Energiedatenvorhersage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B89A7D-FDAB-4621-9A69-DBA87466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5866"/>
                </a:solidFill>
              </a:defRPr>
            </a:pPr>
            <a:r>
              <a:rPr sz="900" b="1">
                <a:solidFill>
                  <a:srgbClr val="525866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702646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679DEB-DB98-40B5-85EF-755E7407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5866"/>
                </a:solidFill>
              </a:defRPr>
            </a:pPr>
            <a:r>
              <a:rPr sz="1050" b="1">
                <a:solidFill>
                  <a:srgbClr val="525866"/>
                </a:solidFill>
              </a:rPr>
              <a:t>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ED96C5-8D2D-443C-BB64-A38E7825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B0F14"/>
                </a:solidFill>
              </a:defRPr>
            </a:pPr>
            <a:r>
              <a:rPr sz="3000" b="0">
                <a:solidFill>
                  <a:srgbClr val="0B0F14"/>
                </a:solidFill>
              </a:rPr>
              <a:t>Die Bewertung prüft Fehler, Kalibrierung und Konsistenz gleichzeitig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FCE73-38A8-483A-8111-6ED9B9F0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05A19-8986-456F-A9C6-8259C332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113919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8C8F40-C247-4F03-9F10-D2FF1FFB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97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7A4D"/>
                </a:solidFill>
              </a:defRPr>
            </a:pPr>
            <a:r>
              <a:rPr sz="1500" b="1">
                <a:solidFill>
                  <a:srgbClr val="1F7A4D"/>
                </a:solidFill>
              </a:rPr>
              <a:t>PICP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A67484-DE58-4433-86A4-6FF02F86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002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0F14"/>
                </a:solidFill>
              </a:defRPr>
            </a:pPr>
            <a:r>
              <a:rPr sz="1425" b="0">
                <a:solidFill>
                  <a:srgbClr val="0B0F14"/>
                </a:solidFill>
              </a:rPr>
              <a:t>Wie viele echte Werte liegen im 80%-Intervall? Ziel: nahe 80%.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DFBAB4-35C0-4363-8019-0C9AA20F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24125"/>
            <a:ext cx="113919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F89F66-45C0-4D51-BDBB-DEE66B1F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</a:defRPr>
            </a:pPr>
            <a:r>
              <a:rPr sz="1500" b="1">
                <a:solidFill>
                  <a:srgbClr val="0B0F14"/>
                </a:solidFill>
              </a:rPr>
              <a:t>Intervallbreite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B95EB2-8D23-4C7B-B5F9-22582ABD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38425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0F14"/>
                </a:solidFill>
              </a:defRPr>
            </a:pPr>
            <a:r>
              <a:rPr sz="1425" b="0">
                <a:solidFill>
                  <a:srgbClr val="0B0F14"/>
                </a:solidFill>
              </a:rPr>
              <a:t>Wie breit ist der Unsicherheitsbereich im Durchschnitt?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429896-CE8F-40B6-AB1E-8BB017B5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62300"/>
            <a:ext cx="113919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A974FE-1938-4ED3-B35E-10D4AB36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</a:defRPr>
            </a:pPr>
            <a:r>
              <a:rPr sz="1500" b="1">
                <a:solidFill>
                  <a:srgbClr val="0B0F14"/>
                </a:solidFill>
              </a:rPr>
              <a:t>Median-RMSE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120D7B-F58C-4E82-870F-4C585230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766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0F14"/>
                </a:solidFill>
              </a:defRPr>
            </a:pPr>
            <a:r>
              <a:rPr sz="1425" b="0">
                <a:solidFill>
                  <a:srgbClr val="0B0F14"/>
                </a:solidFill>
              </a:rPr>
              <a:t>Wie nah liegt die zentrale q0.5-Prognose an der Realität?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615B29-BFBC-411C-96BF-BEFAB471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00475"/>
            <a:ext cx="113919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B9C684-2945-4230-A54A-C427FDA2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</a:defRPr>
            </a:pPr>
            <a:r>
              <a:rPr sz="1500" b="1">
                <a:solidFill>
                  <a:srgbClr val="0B0F14"/>
                </a:solidFill>
              </a:rPr>
              <a:t>Winkler 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40EDC8-912D-49E0-83C4-0CEBE3FA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14775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0F14"/>
                </a:solidFill>
              </a:defRPr>
            </a:pPr>
            <a:r>
              <a:rPr sz="1425" b="0">
                <a:solidFill>
                  <a:srgbClr val="0B0F14"/>
                </a:solidFill>
              </a:rPr>
              <a:t>Wie gut ist die Balance aus Breite und Fehldeckung?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5E594B-D4DC-42A4-BA1B-FD3BC84A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113919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194997-2018-414A-98DA-E04435AD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</a:defRPr>
            </a:pPr>
            <a:r>
              <a:rPr sz="1500" b="1">
                <a:solidFill>
                  <a:srgbClr val="0B0F14"/>
                </a:solidFill>
              </a:rPr>
              <a:t>Pinball Loss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C3A873-5F02-4B3E-811D-5E75A331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529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0F14"/>
                </a:solidFill>
              </a:defRPr>
            </a:pPr>
            <a:r>
              <a:rPr sz="1425" b="0">
                <a:solidFill>
                  <a:srgbClr val="0B0F14"/>
                </a:solidFill>
              </a:rPr>
              <a:t>Sind die einzelnen Quantile an ihrem Niveau gut getroffen?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4E404-3828-4EDA-A9B4-DE51BE1D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76825"/>
            <a:ext cx="113919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1590F1-E1F4-41A4-9B04-52B43873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</a:defRPr>
            </a:pPr>
            <a:r>
              <a:rPr sz="1500" b="1">
                <a:solidFill>
                  <a:srgbClr val="0B0F14"/>
                </a:solidFill>
              </a:rPr>
              <a:t>Crossing 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2A2651-2341-4E1E-A7D9-E686433C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91125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0F14"/>
                </a:solidFill>
              </a:defRPr>
            </a:pPr>
            <a:r>
              <a:rPr sz="1425" b="0">
                <a:solidFill>
                  <a:srgbClr val="0B0F14"/>
                </a:solidFill>
              </a:rPr>
              <a:t>Bleibt die Ordnung q0.1 &lt;= q0.5 &lt;= q0.9 erhalten?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387F37-B285-46A9-A855-BDCAF181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</a:defRPr>
            </a:pPr>
            <a:r>
              <a:rPr sz="1650" b="1">
                <a:solidFill>
                  <a:srgbClr val="0B0F14"/>
                </a:solidFill>
              </a:rPr>
              <a:t>Eine gute probabilistische Prognose ist nicht automatisch die mit dem schmalsten Intervall. Entscheidend ist, ob Präzision und Abdeckung zusammenpassen.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6DEA43-A2D6-4BA6-8CAD-30D107E0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5866"/>
                </a:solidFill>
              </a:defRPr>
            </a:pPr>
            <a:r>
              <a:rPr sz="900" b="1">
                <a:solidFill>
                  <a:srgbClr val="525866"/>
                </a:solidFill>
              </a:rPr>
              <a:t>Probabilistische Energiedatenvorhersage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931DDD-5CA0-4C5F-8A61-1C7340F1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5866"/>
                </a:solidFill>
              </a:defRPr>
            </a:pPr>
            <a:r>
              <a:rPr sz="900" b="1">
                <a:solidFill>
                  <a:srgbClr val="525866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528162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007B7A-5183-4027-988C-F9B3D0CE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5866"/>
                </a:solidFill>
              </a:defRPr>
            </a:pPr>
            <a:r>
              <a:rPr sz="1050" b="1">
                <a:solidFill>
                  <a:srgbClr val="525866"/>
                </a:solidFill>
              </a:rPr>
              <a:t>ERGEBNIS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E438FB-0D3D-47A8-AD7C-3B50F232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B0F14"/>
                </a:solidFill>
              </a:defRPr>
            </a:pPr>
            <a:r>
              <a:rPr sz="3000" b="0">
                <a:solidFill>
                  <a:srgbClr val="0B0F14"/>
                </a:solidFill>
              </a:rPr>
              <a:t>Das RNN liefert im aktuellen Lauf die überzeugendere Prognose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4EFF4A-564C-4B31-94E8-CCC87790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6B1FB-D169-458F-991B-044AC512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73342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649b025ee44e1b"/>
          <a:stretch xmlns:a="http://schemas.openxmlformats.org/drawingml/2006/main"/>
        </p:blipFill>
        <p:spPr>
          <a:xfrm xmlns:a="http://schemas.openxmlformats.org/drawingml/2006/main">
            <a:off x="495300" y="2047875"/>
            <a:ext cx="7143750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D5353-0D1F-47D5-BB9B-1BCFE0FC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16668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AD67AD-9975-421A-A2C4-F77C80EF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12096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F7A4D"/>
                </a:solidFill>
              </a:defRPr>
            </a:pPr>
            <a:r>
              <a:rPr sz="2400" b="0">
                <a:solidFill>
                  <a:srgbClr val="1F7A4D"/>
                </a:solidFill>
              </a:rPr>
              <a:t>89,6%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33797D-2E30-42B3-B90A-54DC6454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14625"/>
            <a:ext cx="1209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4"/>
                </a:solidFill>
              </a:defRPr>
            </a:pPr>
            <a:r>
              <a:rPr sz="1350" b="1">
                <a:solidFill>
                  <a:srgbClr val="0B0F14"/>
                </a:solidFill>
              </a:rPr>
              <a:t>PICP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D6CB8B-42C6-4955-96D7-168AA617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67050"/>
            <a:ext cx="1209675" cy="-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6"/>
                </a:solidFill>
              </a:defRPr>
            </a:pPr>
            <a:r>
              <a:rPr sz="1200" b="0">
                <a:solidFill>
                  <a:srgbClr val="525866"/>
                </a:solidFill>
              </a:rPr>
              <a:t>nahe, aber konservativ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A8AF7-DA72-4A44-BDA1-F8165EE9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809750"/>
            <a:ext cx="16668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93D193-1012-4D1B-92CA-331761BC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019300"/>
            <a:ext cx="12096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F7A4D"/>
                </a:solidFill>
              </a:defRPr>
            </a:pPr>
            <a:r>
              <a:rPr sz="2400" b="0">
                <a:solidFill>
                  <a:srgbClr val="1F7A4D"/>
                </a:solidFill>
              </a:rPr>
              <a:t>0,0%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EC201E-333F-4BBA-9944-C9BA55B9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14625"/>
            <a:ext cx="1209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4"/>
                </a:solidFill>
              </a:defRPr>
            </a:pPr>
            <a:r>
              <a:rPr sz="1350" b="1">
                <a:solidFill>
                  <a:srgbClr val="0B0F14"/>
                </a:solidFill>
              </a:rPr>
              <a:t>Crossing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B7F3EA-FB7C-4A08-81A1-FB8992FC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067050"/>
            <a:ext cx="1209675" cy="-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6"/>
                </a:solidFill>
              </a:defRPr>
            </a:pPr>
            <a:r>
              <a:rPr sz="1200" b="0">
                <a:solidFill>
                  <a:srgbClr val="525866"/>
                </a:solidFill>
              </a:rPr>
              <a:t>Quantilordnung stabil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1917C7-71E4-403E-A0DC-00171974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86125"/>
            <a:ext cx="16668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FB8B0C-9652-4E1D-8A6F-D1C899F3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95675"/>
            <a:ext cx="12096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B0F14"/>
                </a:solidFill>
              </a:defRPr>
            </a:pPr>
            <a:r>
              <a:rPr sz="2400" b="0">
                <a:solidFill>
                  <a:srgbClr val="0B0F14"/>
                </a:solidFill>
              </a:rPr>
              <a:t>1.804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186692-BA6C-4213-952C-E1AF85A9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91000"/>
            <a:ext cx="1209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4"/>
                </a:solidFill>
              </a:defRPr>
            </a:pPr>
            <a:r>
              <a:rPr sz="1350" b="1">
                <a:solidFill>
                  <a:srgbClr val="0B0F14"/>
                </a:solidFill>
              </a:rPr>
              <a:t>RMSE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EA23F9-6B5B-4953-8314-8636B8B2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43425"/>
            <a:ext cx="1209675" cy="-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6"/>
                </a:solidFill>
              </a:defRPr>
            </a:pPr>
            <a:r>
              <a:rPr sz="1200" b="0">
                <a:solidFill>
                  <a:srgbClr val="525866"/>
                </a:solidFill>
              </a:rPr>
              <a:t>MWh Median-Fehler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068E2A-748A-49AF-A85C-AD18C334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86125"/>
            <a:ext cx="16668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BE7B90-0DA6-4830-8059-3CCA4901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495675"/>
            <a:ext cx="12096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B0F14"/>
                </a:solidFill>
              </a:defRPr>
            </a:pPr>
            <a:r>
              <a:rPr sz="2400" b="0">
                <a:solidFill>
                  <a:srgbClr val="0B0F14"/>
                </a:solidFill>
              </a:rPr>
              <a:t>6.149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286FB5-ADEF-42DF-BA9D-4D2F2171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191000"/>
            <a:ext cx="1209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4"/>
                </a:solidFill>
              </a:defRPr>
            </a:pPr>
            <a:r>
              <a:rPr sz="1350" b="1">
                <a:solidFill>
                  <a:srgbClr val="0B0F14"/>
                </a:solidFill>
              </a:rPr>
              <a:t>Winkler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BC9D6C-B4A6-46ED-B47F-D8F0F81F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543425"/>
            <a:ext cx="1209675" cy="-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6"/>
                </a:solidFill>
              </a:defRPr>
            </a:pPr>
            <a:r>
              <a:rPr sz="1200" b="0">
                <a:solidFill>
                  <a:srgbClr val="525866"/>
                </a:solidFill>
              </a:rPr>
              <a:t>MWh Score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F605AF-5966-4AD3-B443-D51292BB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053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</a:defRPr>
            </a:pPr>
            <a:r>
              <a:rPr sz="1650" b="1">
                <a:solidFill>
                  <a:srgbClr val="0B0F14"/>
                </a:solidFill>
              </a:rPr>
              <a:t>Interpretation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275233-9579-4D1D-A08B-808AF35F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1970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6"/>
                </a:solidFill>
              </a:defRPr>
            </a:pPr>
            <a:r>
              <a:rPr sz="1350" b="0">
                <a:solidFill>
                  <a:srgbClr val="525866"/>
                </a:solidFill>
              </a:rPr>
              <a:t>Das RNN deckt die realen Werte gut ab und bleibt konsistent. Die Coverage liegt über 80%, daher ist das Intervall eher vorsichtig breit.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07E0CB-31C4-45EE-9ACC-AC428A9A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5866"/>
                </a:solidFill>
              </a:defRPr>
            </a:pPr>
            <a:r>
              <a:rPr sz="900" b="1">
                <a:solidFill>
                  <a:srgbClr val="525866"/>
                </a:solidFill>
              </a:rPr>
              <a:t>Probabilistische Energiedatenvorhersage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57011A-FABC-4248-AC53-264CC3F9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5866"/>
                </a:solidFill>
              </a:defRPr>
            </a:pPr>
            <a:r>
              <a:rPr sz="900" b="1">
                <a:solidFill>
                  <a:srgbClr val="525866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112683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EC47F9-E9CA-476B-A7B1-AC95811E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5866"/>
                </a:solidFill>
              </a:defRPr>
            </a:pPr>
            <a:r>
              <a:rPr sz="1050" b="1">
                <a:solidFill>
                  <a:srgbClr val="525866"/>
                </a:solidFill>
              </a:rPr>
              <a:t>GEGENBEISPIEL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51820-84F1-432A-9577-8BE80AD9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B0F14"/>
                </a:solidFill>
              </a:defRPr>
            </a:pPr>
            <a:r>
              <a:rPr sz="3000" b="0">
                <a:solidFill>
                  <a:srgbClr val="0B0F14"/>
                </a:solidFill>
              </a:rPr>
              <a:t>Das LSTM wirkt optisch plausibel, ist aber statistisch zu eng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2E464-466A-4637-BA29-9EB8E581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BC398-72FC-4202-BFE4-1E4BF555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73342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aad05df2fb4a02"/>
          <a:stretch xmlns:a="http://schemas.openxmlformats.org/drawingml/2006/main"/>
        </p:blipFill>
        <p:spPr>
          <a:xfrm xmlns:a="http://schemas.openxmlformats.org/drawingml/2006/main">
            <a:off x="495300" y="2047875"/>
            <a:ext cx="7143750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82043C-3594-4109-8D03-125E5A2C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16668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D4D518-1FA6-4D43-A404-4B9069FE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12096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B42318"/>
                </a:solidFill>
              </a:defRPr>
            </a:pPr>
            <a:r>
              <a:rPr sz="2400" b="0">
                <a:solidFill>
                  <a:srgbClr val="B42318"/>
                </a:solidFill>
              </a:rPr>
              <a:t>58,3%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2A077B-61FF-4D2F-A5F6-31B658DF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14625"/>
            <a:ext cx="1209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4"/>
                </a:solidFill>
              </a:defRPr>
            </a:pPr>
            <a:r>
              <a:rPr sz="1350" b="1">
                <a:solidFill>
                  <a:srgbClr val="0B0F14"/>
                </a:solidFill>
              </a:rPr>
              <a:t>PICP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7043F7-FDFA-42E5-A8F9-0ECB36CD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67050"/>
            <a:ext cx="1209675" cy="-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6"/>
                </a:solidFill>
              </a:defRPr>
            </a:pPr>
            <a:r>
              <a:rPr sz="1200" b="0">
                <a:solidFill>
                  <a:srgbClr val="525866"/>
                </a:solidFill>
              </a:rPr>
              <a:t>deutlich unter 80%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FE335B-03C6-49B5-92A0-F6B6BD93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809750"/>
            <a:ext cx="16668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F160E4-C983-4968-B5FE-8918A154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019300"/>
            <a:ext cx="12096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FF6B35"/>
                </a:solidFill>
              </a:defRPr>
            </a:pPr>
            <a:r>
              <a:rPr sz="2400" b="0">
                <a:solidFill>
                  <a:srgbClr val="FF6B35"/>
                </a:solidFill>
              </a:rPr>
              <a:t>4,17%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1786C3-9BC9-4914-A59A-C380B2D2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14625"/>
            <a:ext cx="1209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4"/>
                </a:solidFill>
              </a:defRPr>
            </a:pPr>
            <a:r>
              <a:rPr sz="1350" b="1">
                <a:solidFill>
                  <a:srgbClr val="0B0F14"/>
                </a:solidFill>
              </a:rPr>
              <a:t>Raw crossing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C35998-7828-42BB-A300-4D2BAB69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067050"/>
            <a:ext cx="1209675" cy="-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6"/>
                </a:solidFill>
              </a:defRPr>
            </a:pPr>
            <a:r>
              <a:rPr sz="1200" b="0">
                <a:solidFill>
                  <a:srgbClr val="525866"/>
                </a:solidFill>
              </a:rPr>
              <a:t>vor Sortierung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1B72BD-3F1D-41CC-9E1E-EC81D8F4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86125"/>
            <a:ext cx="16668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2D32C4-B951-4F59-B080-75763236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95675"/>
            <a:ext cx="12096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B42318"/>
                </a:solidFill>
              </a:defRPr>
            </a:pPr>
            <a:r>
              <a:rPr sz="2400" b="0">
                <a:solidFill>
                  <a:srgbClr val="B42318"/>
                </a:solidFill>
              </a:rPr>
              <a:t>4.906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D246F0-4F6D-4EF4-96E2-92B0BF60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91000"/>
            <a:ext cx="1209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4"/>
                </a:solidFill>
              </a:defRPr>
            </a:pPr>
            <a:r>
              <a:rPr sz="1350" b="1">
                <a:solidFill>
                  <a:srgbClr val="0B0F14"/>
                </a:solidFill>
              </a:rPr>
              <a:t>RMSE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5CD464-62F9-42E4-8AA0-ADA01FAE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43425"/>
            <a:ext cx="1209675" cy="-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6"/>
                </a:solidFill>
              </a:defRPr>
            </a:pPr>
            <a:r>
              <a:rPr sz="1200" b="0">
                <a:solidFill>
                  <a:srgbClr val="525866"/>
                </a:solidFill>
              </a:rPr>
              <a:t>MWh Median-Fehler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AAAA3D-0BC8-4735-8396-5DBDC97F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86125"/>
            <a:ext cx="16668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B77026-6B15-49D3-9442-403259C4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495675"/>
            <a:ext cx="12096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B42318"/>
                </a:solidFill>
              </a:defRPr>
            </a:pPr>
            <a:r>
              <a:rPr sz="2400" b="0">
                <a:solidFill>
                  <a:srgbClr val="B42318"/>
                </a:solidFill>
              </a:rPr>
              <a:t>18.838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1010B9-5D97-40BF-8B5A-91F94852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191000"/>
            <a:ext cx="1209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4"/>
                </a:solidFill>
              </a:defRPr>
            </a:pPr>
            <a:r>
              <a:rPr sz="1350" b="1">
                <a:solidFill>
                  <a:srgbClr val="0B0F14"/>
                </a:solidFill>
              </a:rPr>
              <a:t>Winkler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FEA7A6-30E0-477F-892D-9DC28AE5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543425"/>
            <a:ext cx="1209675" cy="-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6"/>
                </a:solidFill>
              </a:defRPr>
            </a:pPr>
            <a:r>
              <a:rPr sz="1200" b="0">
                <a:solidFill>
                  <a:srgbClr val="525866"/>
                </a:solidFill>
              </a:rPr>
              <a:t>MWh Score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B166CA-F011-463F-85A5-39C64777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053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</a:defRPr>
            </a:pPr>
            <a:r>
              <a:rPr sz="1650" b="1">
                <a:solidFill>
                  <a:srgbClr val="0B0F14"/>
                </a:solidFill>
              </a:rPr>
              <a:t>Interpretation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725D5E-79E4-4788-A463-08E7CD2E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19700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6"/>
                </a:solidFill>
              </a:defRPr>
            </a:pPr>
            <a:r>
              <a:rPr sz="1350" b="0">
                <a:solidFill>
                  <a:srgbClr val="525866"/>
                </a:solidFill>
              </a:rPr>
              <a:t>Die Form folgt dem PV-Tagesgang, aber das Intervall verfehlt zu viele echte Werte. Das ist kein Absturz, sondern ein Kalibrierungsbefund.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718C71-8219-4727-ABE3-13FD8D29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5866"/>
                </a:solidFill>
              </a:defRPr>
            </a:pPr>
            <a:r>
              <a:rPr sz="900" b="1">
                <a:solidFill>
                  <a:srgbClr val="525866"/>
                </a:solidFill>
              </a:rPr>
              <a:t>Probabilistische Energiedatenvorhersage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9F6BE9-B3F9-4B6C-B1BA-2243D7BF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5866"/>
                </a:solidFill>
              </a:defRPr>
            </a:pPr>
            <a:r>
              <a:rPr sz="900" b="1">
                <a:solidFill>
                  <a:srgbClr val="525866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665159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9DFA95-347E-4A7D-8B01-48FEDC0E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5866"/>
                </a:solidFill>
              </a:defRPr>
            </a:pPr>
            <a:r>
              <a:rPr sz="1050" b="1">
                <a:solidFill>
                  <a:srgbClr val="525866"/>
                </a:solidFill>
              </a:rPr>
              <a:t>MODELLVERGLEICH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68063-911F-4DB6-AF83-03DB379D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B0F14"/>
                </a:solidFill>
              </a:defRPr>
            </a:pPr>
            <a:r>
              <a:rPr sz="3000" b="0">
                <a:solidFill>
                  <a:srgbClr val="0B0F14"/>
                </a:solidFill>
              </a:rPr>
              <a:t>Der Modellvergleich spricht in diesem Lauf klar für das RNN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C7082-636D-4E5E-8A52-362595F5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52450" y="1857375"/>
          <a:ext xmlns:a="http://schemas.openxmlformats.org/drawingml/2006/main" cx="6667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6e2a1c470684e5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87729-40A1-49F8-9450-6DC2144C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34290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E33E6-A3F9-4D1E-9B3C-67097706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66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4"/>
                </a:solidFill>
              </a:defRPr>
            </a:pPr>
            <a:r>
              <a:rPr sz="1800" b="1">
                <a:solidFill>
                  <a:srgbClr val="0B0F14"/>
                </a:solidFill>
              </a:rPr>
              <a:t>Warum RNN gewinnt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3BB54D-39F6-4897-A378-E739ADB2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765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1F7A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678659-C5F4-4AFA-8625-B01FB2DD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00350"/>
            <a:ext cx="2486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deutlich niedrigerer Median-RMSE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5D019-1F1B-414A-8780-9E2B3DF6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1F7A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5E259E-FECC-4978-B8F1-0CE372C6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57550"/>
            <a:ext cx="2486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deutlich niedrigerer Winkler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05EF83-80CF-4039-94D2-FCF3DD54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909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1F7A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36EFE6-7021-4192-A926-6E663454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14750"/>
            <a:ext cx="2486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PICP näher am 80%-Ziel als LSTM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31A0E0-F8FE-4AC9-A30F-0A67E318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48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1F7A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C08486-B335-48D4-8DA4-F349B512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71950"/>
            <a:ext cx="2486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keine Quantilkreuzungen im 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6AE685-6386-44BD-80C0-162D4FAC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626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</a:defRPr>
            </a:pPr>
            <a:r>
              <a:rPr sz="1650" b="1">
                <a:solidFill>
                  <a:srgbClr val="0B0F14"/>
                </a:solidFill>
              </a:rPr>
              <a:t>Wichtig: Das ist ein Ergebnis dieses konkreten Laufs. Bei größerer Datenbasis und Wetterfeatures muss der Vergleich erneut geprüft werden.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5CAFDF-BC0D-4B43-A8E1-CF42807E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5866"/>
                </a:solidFill>
              </a:defRPr>
            </a:pPr>
            <a:r>
              <a:rPr sz="900" b="1">
                <a:solidFill>
                  <a:srgbClr val="525866"/>
                </a:solidFill>
              </a:rPr>
              <a:t>Probabilistische Energiedatenvorhersage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31F796-7883-48BD-86E3-AB5FA002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5866"/>
                </a:solidFill>
              </a:defRPr>
            </a:pPr>
            <a:r>
              <a:rPr sz="900" b="1">
                <a:solidFill>
                  <a:srgbClr val="525866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733689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0DA845-D59E-41C5-9B77-94EF7B1A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5866"/>
                </a:solidFill>
              </a:defRPr>
            </a:pPr>
            <a:r>
              <a:rPr sz="1050" b="1">
                <a:solidFill>
                  <a:srgbClr val="525866"/>
                </a:solidFill>
              </a:rPr>
              <a:t>INTERPRETIERBARKEIT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5E80E3-2F59-42BD-99CA-36DED8C0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B0F14"/>
                </a:solidFill>
              </a:defRPr>
            </a:pPr>
            <a:r>
              <a:rPr sz="3000" b="0">
                <a:solidFill>
                  <a:srgbClr val="0B0F14"/>
                </a:solidFill>
              </a:rPr>
              <a:t>Die Feature Importance zeigt, was das Modell tatsächlich nutzt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5314A-C4B1-473A-BF90-9A83DD22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93A69F-6EEB-4518-AC8B-3C59A12C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5722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8df75ca2ea4791"/>
          <a:stretch xmlns:a="http://schemas.openxmlformats.org/drawingml/2006/main"/>
        </p:blipFill>
        <p:spPr>
          <a:xfrm xmlns:a="http://schemas.openxmlformats.org/drawingml/2006/main">
            <a:off x="495300" y="2247900"/>
            <a:ext cx="6381750" cy="2552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8686B1-6820-49F0-A039-6B2A1930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288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1F7A4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9AD980-4C99-4B93-8A7B-D8F68EA3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952625"/>
            <a:ext cx="3676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4"/>
                </a:solidFill>
              </a:defRPr>
            </a:pPr>
            <a:r>
              <a:rPr sz="1500" b="0">
                <a:solidFill>
                  <a:srgbClr val="0B0F14"/>
                </a:solidFill>
              </a:rPr>
              <a:t>Die eigene PV-Historie ist im Lauf der stärkste Treiber.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B4912B-EA9A-458A-A383-FD9D5BC4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146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CD5DEE-3B69-4319-8498-52A22858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38425"/>
            <a:ext cx="3676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4"/>
                </a:solidFill>
              </a:defRPr>
            </a:pPr>
            <a:r>
              <a:rPr sz="1500" b="0">
                <a:solidFill>
                  <a:srgbClr val="0B0F14"/>
                </a:solidFill>
              </a:rPr>
              <a:t>Zeitliche Muster bleiben wichtig, besonders der Tageszyklus.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370048-F190-4094-B6DA-BBD005CD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00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3748AF-032D-4ABB-A72D-90B19404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24225"/>
            <a:ext cx="3676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4"/>
                </a:solidFill>
              </a:defRPr>
            </a:pPr>
            <a:r>
              <a:rPr sz="1500" b="0">
                <a:solidFill>
                  <a:srgbClr val="0B0F14"/>
                </a:solidFill>
              </a:rPr>
              <a:t>Wind und Erdgas liefern Zusatzsignal, aber nicht den Hauptteil.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3733C9-46C9-4109-8FDD-949E60FD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86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68348E-D678-4094-BCD4-D9B91CD9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10025"/>
            <a:ext cx="3676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</a:defRPr>
            </a:pPr>
            <a:r>
              <a:rPr sz="1500" b="1">
                <a:solidFill>
                  <a:srgbClr val="0B0F14"/>
                </a:solidFill>
              </a:rPr>
              <a:t>Keine Wetterfeatures heißt: Das Modell sieht keine echte Wetterlage.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3AA01A-1378-4275-AB5E-41760F5D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43500"/>
            <a:ext cx="39052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5612F8-E7EB-4369-9DDD-D492B928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2863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0F14"/>
                </a:solidFill>
              </a:defRPr>
            </a:pPr>
            <a:r>
              <a:rPr sz="1425" b="1">
                <a:solidFill>
                  <a:srgbClr val="0B0F14"/>
                </a:solidFill>
              </a:rPr>
              <a:t>Nächster Qualitätssprung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C50CFD-4116-4E38-A3C8-8F6C74EB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562600"/>
            <a:ext cx="3286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6"/>
                </a:solidFill>
              </a:defRPr>
            </a:pPr>
            <a:r>
              <a:rPr sz="1200" b="0">
                <a:solidFill>
                  <a:srgbClr val="525866"/>
                </a:solidFill>
              </a:rPr>
              <a:t>Globalstrahlung, Bewölkung, Temperatur und echte Wettervorhersagen einbinden.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0DF2AF-9221-42F0-8203-6A7C2847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5866"/>
                </a:solidFill>
              </a:defRPr>
            </a:pPr>
            <a:r>
              <a:rPr sz="900" b="1">
                <a:solidFill>
                  <a:srgbClr val="525866"/>
                </a:solidFill>
              </a:rPr>
              <a:t>Probabilistische Energiedatenvorhersage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C8AD31-DD41-413F-9FB4-3505BCF8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5866"/>
                </a:solidFill>
              </a:defRPr>
            </a:pPr>
            <a:r>
              <a:rPr sz="900" b="1">
                <a:solidFill>
                  <a:srgbClr val="525866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904245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5F2087-747C-4713-B794-628124A4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5866"/>
                </a:solidFill>
              </a:defRPr>
            </a:pPr>
            <a:r>
              <a:rPr sz="1050" b="1">
                <a:solidFill>
                  <a:srgbClr val="525866"/>
                </a:solidFill>
              </a:rPr>
              <a:t>FAZIT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0D1339-8B6C-452C-9C07-701438C6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B0F14"/>
                </a:solidFill>
              </a:defRPr>
            </a:pPr>
            <a:r>
              <a:rPr sz="3000" b="0">
                <a:solidFill>
                  <a:srgbClr val="0B0F14"/>
                </a:solidFill>
              </a:rPr>
              <a:t>Das Projekt ist ein belastbarer Prototyp mit einem klaren nächsten Ausbauschritt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35230B-8DBC-4F75-B64D-ABEE1B6D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6F0CBE-AA30-4C1F-ADF6-21DC5C85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718A97-E4CD-4C49-8DD9-7041BF87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B0F14"/>
                </a:solidFill>
              </a:defRPr>
            </a:pPr>
            <a:r>
              <a:rPr sz="3150" b="0">
                <a:solidFill>
                  <a:srgbClr val="0B0F14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718084-48C5-4948-8EF4-68C8619E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051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4"/>
                </a:solidFill>
              </a:defRPr>
            </a:pPr>
            <a:r>
              <a:rPr sz="1350" b="1">
                <a:solidFill>
                  <a:srgbClr val="0B0F14"/>
                </a:solidFill>
              </a:rPr>
              <a:t>Was gezeigt wurde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06BBF-ED48-49E3-83B0-D5EA061C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2876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6"/>
                </a:solidFill>
              </a:defRPr>
            </a:pPr>
            <a:r>
              <a:rPr sz="1200" b="0">
                <a:solidFill>
                  <a:srgbClr val="525866"/>
                </a:solidFill>
              </a:rPr>
              <a:t>Eine lokale End-to-End-Pipeline von SMARD-CSV über Training bis Ergebnis-Dashboard.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E30D6B-9989-4CB4-AA40-8A4F58AE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002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01896B-942C-4220-B6C9-1AAAA2D3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098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F7A4D"/>
                </a:solidFill>
              </a:defRPr>
            </a:pPr>
            <a:r>
              <a:rPr sz="3150" b="0">
                <a:solidFill>
                  <a:srgbClr val="1F7A4D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EA8F5F-A771-422C-ADF9-8775BA46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9051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4"/>
                </a:solidFill>
              </a:defRPr>
            </a:pPr>
            <a:r>
              <a:rPr sz="1350" b="1">
                <a:solidFill>
                  <a:srgbClr val="0B0F14"/>
                </a:solidFill>
              </a:rPr>
              <a:t>Was methodisch trägt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992743-AE40-43CA-97E3-E37A8D5A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57550"/>
            <a:ext cx="2876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6"/>
                </a:solidFill>
              </a:defRPr>
            </a:pPr>
            <a:r>
              <a:rPr sz="1200" b="0">
                <a:solidFill>
                  <a:srgbClr val="525866"/>
                </a:solidFill>
              </a:rPr>
              <a:t>Chronologischer Split, Scaler nur auf Training, Quantilmetriken und Crossing-Kontrolle.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5F7CE0-0A4E-436F-8B74-3568F115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002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62B972-888C-4A4D-B87D-83AEF1A5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FF6B35"/>
                </a:solidFill>
              </a:defRPr>
            </a:pPr>
            <a:r>
              <a:rPr sz="3150" b="0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DBBFF5-6499-471B-9311-BBF365E1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051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4"/>
                </a:solidFill>
              </a:defRPr>
            </a:pPr>
            <a:r>
              <a:rPr sz="1350" b="1">
                <a:solidFill>
                  <a:srgbClr val="0B0F14"/>
                </a:solidFill>
              </a:rPr>
              <a:t>Was noch fehlt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7D6290-CF9D-428F-A1E9-9DCAA6CC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57550"/>
            <a:ext cx="2876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6"/>
                </a:solidFill>
              </a:defRPr>
            </a:pPr>
            <a:r>
              <a:rPr sz="1200" b="0">
                <a:solidFill>
                  <a:srgbClr val="525866"/>
                </a:solidFill>
              </a:rPr>
              <a:t>Mehr Daten und echte Wettervorhersagen für robuste PV-Prognosen.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A0D65F-BF6C-483D-8505-2B2825F1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13919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FB161E-B273-41DE-9838-DA3D51E7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4"/>
                </a:solidFill>
              </a:defRPr>
            </a:pPr>
            <a:r>
              <a:rPr sz="1650" b="1">
                <a:solidFill>
                  <a:srgbClr val="0B0F14"/>
                </a:solidFill>
              </a:rPr>
              <a:t>Kernaussage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F840B4-0974-4CA4-8EA7-02967ABE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43500"/>
            <a:ext cx="833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F14"/>
                </a:solidFill>
              </a:defRPr>
            </a:pPr>
            <a:r>
              <a:rPr sz="1650" b="0">
                <a:solidFill>
                  <a:srgbClr val="0B0F14"/>
                </a:solidFill>
              </a:rPr>
              <a:t>Die Präsentation sollte nicht behaupten, dass das Modell produktionsreif ist. Stark ist vielmehr, dass Unsicherheit sauber modelliert, bewertet und transparent erklärt wird.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3282D5-67DD-4C7E-8D81-4F72E770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5866"/>
                </a:solidFill>
              </a:defRPr>
            </a:pPr>
            <a:r>
              <a:rPr sz="900" b="1">
                <a:solidFill>
                  <a:srgbClr val="525866"/>
                </a:solidFill>
              </a:rPr>
              <a:t>Probabilistische Energiedatenvorhersage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E79351-5279-43E7-8766-7FAF1289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5866"/>
                </a:solidFill>
              </a:defRPr>
            </a:pPr>
            <a:r>
              <a:rPr sz="900" b="1">
                <a:solidFill>
                  <a:srgbClr val="525866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211545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2026-07-13T09:59:55.4020000Z</dcterms:created>
  <dcterms:modified xsi:type="dcterms:W3CDTF">2026-07-13T09:59:55.4020000Z</dcterms:modified>
</coreProperties>
</file>